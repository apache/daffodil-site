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409" r:id="rId5"/>
    <p:sldId id="716" r:id="rId6"/>
    <p:sldId id="715" r:id="rId7"/>
    <p:sldId id="719" r:id="rId8"/>
    <p:sldId id="718" r:id="rId9"/>
  </p:sldIdLst>
  <p:sldSz cx="12192000" cy="6858000"/>
  <p:notesSz cx="6858000" cy="9144000"/>
  <p:embeddedFontLst>
    <p:embeddedFont>
      <p:font typeface="Noto Sans" panose="020B050204050402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B61E61-8FB2-CE41-73A2-D18C7201AEBA}" name="Beckerle, Mike" initials="MB" userId="S::mbeckerle@owlcyberdefense.com::41155a9a-513c-4288-9ceb-5c90f574ab21" providerId="AD"/>
  <p188:author id="{244309C5-15C3-A979-A70C-136C3B0AC25A}" name="Sood, Harinder" initials="SH" userId="S::hsood@owlcyberdefense.com::0ec8c5c7-03d2-48d0-9195-1c9ef9f6da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16315A"/>
    <a:srgbClr val="0D203D"/>
    <a:srgbClr val="E6E7E8"/>
    <a:srgbClr val="0D2035"/>
    <a:srgbClr val="0D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857113-CCE1-4EC8-8DE6-729D4D68471A}" v="1" dt="2025-11-19T14:12:51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2597" autoAdjust="0"/>
  </p:normalViewPr>
  <p:slideViewPr>
    <p:cSldViewPr snapToGrid="0" snapToObjects="1">
      <p:cViewPr varScale="1">
        <p:scale>
          <a:sx n="93" d="100"/>
          <a:sy n="93" d="100"/>
        </p:scale>
        <p:origin x="120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402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50A63-030B-4438-BE70-50EDBC08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74D0-9B26-43B7-8963-F4122ECD1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6C127-A84A-41C1-BFB1-ED6D88031FE2}" type="datetimeFigureOut">
              <a:rPr lang="en-US" smtClean="0">
                <a:latin typeface="Noto Sans" panose="020B0502040504020204" pitchFamily="34" charset="0"/>
              </a:rPr>
              <a:t>12/22/2025</a:t>
            </a:fld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AB04E-AA39-4BDF-9C11-00567415CA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39012-E7C3-4A01-A659-BF6A28F59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20852-FEC4-42AD-B3FE-D542A75F8A1A}" type="slidenum">
              <a:rPr lang="en-US" smtClean="0">
                <a:latin typeface="Noto Sans" panose="020B0502040504020204" pitchFamily="34" charset="0"/>
              </a:rPr>
              <a:t>‹#›</a:t>
            </a:fld>
            <a:endParaRPr lang="en-US" dirty="0"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7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104331F3-F512-0241-93B1-4EC568B308ED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CF152513-84CE-DE4C-84E6-0C1BDA4E2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5328B-E01F-BF4C-B1B0-BF337475A50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51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5484" y="125004"/>
            <a:ext cx="9654540" cy="68053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5482" y="1007950"/>
            <a:ext cx="11465923" cy="5135834"/>
          </a:xfrm>
        </p:spPr>
        <p:txBody>
          <a:bodyPr/>
          <a:lstStyle>
            <a:lvl1pPr marL="457189" indent="-457189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n-lt"/>
              </a:defRPr>
            </a:lvl1pPr>
            <a:lvl2pPr marL="990575" indent="-380990">
              <a:lnSpc>
                <a:spcPct val="100000"/>
              </a:lnSpc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</a:defRPr>
            </a:lvl2pPr>
            <a:lvl3pPr marL="1523962" indent="-304792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90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725" y="124414"/>
            <a:ext cx="9516291" cy="72031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pache.org/licenses/LICENSE-2.0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09BB2-F79A-234D-8E9E-E1D20496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60" y="140254"/>
            <a:ext cx="9772131" cy="733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83F1-A007-0E40-9860-7C73664E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60" y="1404303"/>
            <a:ext cx="11365800" cy="463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2C13-ADE4-454D-A0F2-F3883FD2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2206" y="6376580"/>
            <a:ext cx="781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</a:defRPr>
            </a:lvl1pPr>
          </a:lstStyle>
          <a:p>
            <a:fld id="{E86E9A59-3F40-F444-BD0F-26E6D063A5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AI-generated content may be incorrect.">
            <a:extLst>
              <a:ext uri="{FF2B5EF4-FFF2-40B4-BE49-F238E27FC236}">
                <a16:creationId xmlns:a16="http://schemas.microsoft.com/office/drawing/2014/main" id="{D476FC69-7F9A-14CE-4937-48E3A8F81D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3925" y="6290557"/>
            <a:ext cx="930276" cy="488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02571-4629-40DC-3401-F80007F4B32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134600" y="140254"/>
            <a:ext cx="1868263" cy="351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25BEF2-EF2E-E5C3-C2A5-00069AB7BBB3}"/>
              </a:ext>
            </a:extLst>
          </p:cNvPr>
          <p:cNvSpPr txBox="1"/>
          <p:nvPr userDrawn="1"/>
        </p:nvSpPr>
        <p:spPr>
          <a:xfrm>
            <a:off x="1175161" y="638240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Copyright © 2025 The Apache Software Foundation, </a:t>
            </a:r>
          </a:p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Licensed under the </a:t>
            </a:r>
            <a:r>
              <a:rPr lang="en-US" sz="800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6"/>
              </a:rPr>
              <a:t>Apache License, Version 2.0</a:t>
            </a:r>
            <a:endParaRPr lang="en-US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5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Noto Sans" panose="020B050204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affodil.apache.org/unsupported/&#8203;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C8E139-7C71-4BE9-B42D-201602F82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Used frequently</a:t>
            </a:r>
          </a:p>
          <a:p>
            <a:pPr lvl="1"/>
            <a:r>
              <a:rPr lang="en-US" dirty="0"/>
              <a:t>delimited </a:t>
            </a:r>
          </a:p>
          <a:p>
            <a:pPr lvl="1"/>
            <a:r>
              <a:rPr lang="en-US" dirty="0"/>
              <a:t>implicit </a:t>
            </a:r>
          </a:p>
          <a:p>
            <a:pPr lvl="2"/>
            <a:r>
              <a:rPr lang="en-US" dirty="0"/>
              <a:t>complex - length is sum of length of all children</a:t>
            </a:r>
          </a:p>
          <a:p>
            <a:pPr lvl="2"/>
            <a:r>
              <a:rPr lang="en-US" dirty="0"/>
              <a:t>simple - length depends on type (for binary data)</a:t>
            </a:r>
          </a:p>
          <a:p>
            <a:pPr lvl="1"/>
            <a:r>
              <a:rPr lang="en-US" dirty="0"/>
              <a:t>explicit - a constant or expression gives length</a:t>
            </a:r>
          </a:p>
          <a:p>
            <a:pPr lvl="2"/>
            <a:r>
              <a:rPr lang="en-US" dirty="0"/>
              <a:t>needs </a:t>
            </a:r>
            <a:r>
              <a:rPr lang="en-US" dirty="0" err="1"/>
              <a:t>dfdl:lengthUnits</a:t>
            </a:r>
            <a:endParaRPr lang="en-US" dirty="0"/>
          </a:p>
          <a:p>
            <a:r>
              <a:rPr lang="en-US" dirty="0"/>
              <a:t>Used in special cases</a:t>
            </a:r>
          </a:p>
          <a:p>
            <a:pPr lvl="1"/>
            <a:r>
              <a:rPr lang="en-US" dirty="0"/>
              <a:t>prefixed </a:t>
            </a:r>
          </a:p>
          <a:p>
            <a:pPr lvl="2"/>
            <a:r>
              <a:rPr lang="en-US" dirty="0"/>
              <a:t>needs </a:t>
            </a:r>
            <a:r>
              <a:rPr lang="en-US" dirty="0" err="1"/>
              <a:t>dfdl:lengthUnits</a:t>
            </a:r>
            <a:endParaRPr lang="en-US" dirty="0"/>
          </a:p>
          <a:p>
            <a:pPr lvl="1"/>
            <a:r>
              <a:rPr lang="en-US" dirty="0"/>
              <a:t>pattern - uses regular expressions (use as last resort only)</a:t>
            </a:r>
          </a:p>
          <a:p>
            <a:pPr lvl="1"/>
            <a:r>
              <a:rPr lang="en-US" dirty="0" err="1"/>
              <a:t>endOfParent</a:t>
            </a:r>
            <a:r>
              <a:rPr lang="en-US" dirty="0"/>
              <a:t> - not implemented (2025-12) by Daffodil</a:t>
            </a:r>
          </a:p>
          <a:p>
            <a:pPr lvl="2"/>
            <a:r>
              <a:rPr lang="en-US" dirty="0"/>
              <a:t>See </a:t>
            </a:r>
            <a:r>
              <a:rPr lang="en-US" dirty="0">
                <a:hlinkClick r:id="rId2"/>
              </a:rPr>
              <a:t>https://daffodil.apache.org/unsupported/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6405314-9B19-49BE-A767-79D789EA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dfdl:lengthKind</a:t>
            </a:r>
            <a:r>
              <a:rPr lang="en-US" dirty="0"/>
              <a:t> and </a:t>
            </a:r>
            <a:r>
              <a:rPr lang="en-US" dirty="0" err="1"/>
              <a:t>dfdl:lengthUnits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760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8D2A6-CF07-4F40-B64D-D65D4C85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Significant Bit First + Big Endian</a:t>
            </a:r>
          </a:p>
          <a:p>
            <a:r>
              <a:rPr lang="en-US" dirty="0"/>
              <a:t>Use Left-to-Right numbering to best visualize</a:t>
            </a:r>
          </a:p>
          <a:p>
            <a:r>
              <a:rPr lang="en-US" dirty="0"/>
              <a:t>Ex: Integer of 24 bits not byte aligned</a:t>
            </a:r>
          </a:p>
          <a:p>
            <a:r>
              <a:rPr lang="en-US" dirty="0"/>
              <a:t>Starts at bit 6 of byte 1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Byte:1   2        3        4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00000</a:t>
            </a:r>
            <a:r>
              <a:rPr lang="en-US" sz="2400" b="1" u="sng" dirty="0">
                <a:solidFill>
                  <a:schemeClr val="accent2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001 1</a:t>
            </a:r>
            <a:r>
              <a:rPr lang="en-US" sz="2400" b="1" u="sng" dirty="0">
                <a:solidFill>
                  <a:schemeClr val="accent2"/>
                </a:solidFill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0111</a:t>
            </a:r>
            <a:r>
              <a:rPr lang="en-US" sz="2400" b="1" u="sng" dirty="0">
                <a:solidFill>
                  <a:schemeClr val="accent2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010 0</a:t>
            </a:r>
            <a:r>
              <a:rPr lang="en-US" sz="2400" b="1" u="sng" dirty="0">
                <a:solidFill>
                  <a:schemeClr val="accent2"/>
                </a:solidFill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1001</a:t>
            </a:r>
            <a:r>
              <a:rPr lang="en-US" sz="2400" b="1" u="sng" dirty="0">
                <a:solidFill>
                  <a:schemeClr val="accent2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111 1</a:t>
            </a:r>
            <a:r>
              <a:rPr lang="en-US" sz="2400" b="1" u="sng" dirty="0">
                <a:solidFill>
                  <a:schemeClr val="accent2"/>
                </a:solidFill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0100</a:t>
            </a:r>
            <a:r>
              <a:rPr lang="en-US" sz="2400" b="1" dirty="0">
                <a:solidFill>
                  <a:schemeClr val="bg2"/>
                </a:solidFill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000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xxxxx</a:t>
            </a:r>
            <a:r>
              <a:rPr lang="en-US" sz="2400" b="1" dirty="0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    3   7    4   9    F   4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59EA-3473-4F5B-A150-D9B886C94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Order + Byte Order</a:t>
            </a:r>
          </a:p>
        </p:txBody>
      </p:sp>
      <p:sp>
        <p:nvSpPr>
          <p:cNvPr id="4" name="Callout: Line with Accent Bar 3">
            <a:extLst>
              <a:ext uri="{FF2B5EF4-FFF2-40B4-BE49-F238E27FC236}">
                <a16:creationId xmlns:a16="http://schemas.microsoft.com/office/drawing/2014/main" id="{DC70F61D-7C36-462F-54A4-44A20C85B100}"/>
              </a:ext>
            </a:extLst>
          </p:cNvPr>
          <p:cNvSpPr/>
          <p:nvPr/>
        </p:nvSpPr>
        <p:spPr>
          <a:xfrm>
            <a:off x="5152754" y="5337313"/>
            <a:ext cx="674254" cy="748145"/>
          </a:xfrm>
          <a:prstGeom prst="accentCallout1">
            <a:avLst>
              <a:gd name="adj1" fmla="val 11343"/>
              <a:gd name="adj2" fmla="val 106736"/>
              <a:gd name="adj3" fmla="val -138647"/>
              <a:gd name="adj4" fmla="val 1498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Bit 24</a:t>
            </a:r>
          </a:p>
        </p:txBody>
      </p:sp>
      <p:sp>
        <p:nvSpPr>
          <p:cNvPr id="5" name="Callout: Line with Accent Bar 4">
            <a:extLst>
              <a:ext uri="{FF2B5EF4-FFF2-40B4-BE49-F238E27FC236}">
                <a16:creationId xmlns:a16="http://schemas.microsoft.com/office/drawing/2014/main" id="{3C866645-D980-D912-1BBB-3EEEA952F585}"/>
              </a:ext>
            </a:extLst>
          </p:cNvPr>
          <p:cNvSpPr/>
          <p:nvPr/>
        </p:nvSpPr>
        <p:spPr>
          <a:xfrm>
            <a:off x="1883917" y="5232014"/>
            <a:ext cx="570134" cy="682838"/>
          </a:xfrm>
          <a:prstGeom prst="accentCallout1">
            <a:avLst>
              <a:gd name="adj1" fmla="val 15046"/>
              <a:gd name="adj2" fmla="val -10657"/>
              <a:gd name="adj3" fmla="val -130004"/>
              <a:gd name="adj4" fmla="val -755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Bit 1</a:t>
            </a:r>
          </a:p>
        </p:txBody>
      </p:sp>
    </p:spTree>
    <p:extLst>
      <p:ext uri="{BB962C8B-B14F-4D97-AF65-F5344CB8AC3E}">
        <p14:creationId xmlns:p14="http://schemas.microsoft.com/office/powerpoint/2010/main" val="71910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8D2A6-CF07-4F40-B64D-D65D4C85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Least</a:t>
            </a:r>
            <a:r>
              <a:rPr lang="en-US" dirty="0"/>
              <a:t> Significant Bit First + </a:t>
            </a:r>
            <a:r>
              <a:rPr lang="en-US" u="sng" dirty="0"/>
              <a:t>Little</a:t>
            </a:r>
            <a:r>
              <a:rPr lang="en-US" dirty="0"/>
              <a:t> Endian</a:t>
            </a:r>
          </a:p>
          <a:p>
            <a:r>
              <a:rPr lang="en-US" dirty="0"/>
              <a:t>Use </a:t>
            </a:r>
            <a:r>
              <a:rPr lang="en-US" i="1" dirty="0"/>
              <a:t>Right-to-Left</a:t>
            </a:r>
            <a:r>
              <a:rPr lang="en-US" dirty="0"/>
              <a:t> numbering to best visualize</a:t>
            </a:r>
          </a:p>
          <a:p>
            <a:r>
              <a:rPr lang="en-US" dirty="0"/>
              <a:t>Ex: Integer of 24 bits not byte aligned</a:t>
            </a:r>
          </a:p>
          <a:p>
            <a:r>
              <a:rPr lang="en-US" dirty="0"/>
              <a:t>Starts at bit 4 of byte 1 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Byte:  4        3        2        1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00000</a:t>
            </a:r>
            <a:r>
              <a:rPr lang="en-US" sz="2400" b="1" u="sng" dirty="0">
                <a:solidFill>
                  <a:schemeClr val="accent2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001 1</a:t>
            </a:r>
            <a:r>
              <a:rPr lang="en-US" sz="2400" b="1" u="sng" dirty="0">
                <a:solidFill>
                  <a:schemeClr val="accent2"/>
                </a:solidFill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0111</a:t>
            </a:r>
            <a:r>
              <a:rPr lang="en-US" sz="2400" b="1" u="sng" dirty="0">
                <a:solidFill>
                  <a:schemeClr val="accent2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010 0</a:t>
            </a:r>
            <a:r>
              <a:rPr lang="en-US" sz="2400" b="1" u="sng" dirty="0">
                <a:solidFill>
                  <a:schemeClr val="accent2"/>
                </a:solidFill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1001</a:t>
            </a:r>
            <a:r>
              <a:rPr lang="en-US" sz="2400" b="1" u="sng" dirty="0">
                <a:solidFill>
                  <a:schemeClr val="accent2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111 1</a:t>
            </a:r>
            <a:r>
              <a:rPr lang="en-US" sz="2400" b="1" u="sng" dirty="0">
                <a:solidFill>
                  <a:schemeClr val="accent2"/>
                </a:solidFill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0100</a:t>
            </a:r>
            <a:r>
              <a:rPr lang="en-US" sz="2400" b="1" dirty="0">
                <a:solidFill>
                  <a:schemeClr val="bg2"/>
                </a:solidFill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000</a:t>
            </a:r>
          </a:p>
          <a:p>
            <a:pPr marL="0" indent="0">
              <a:buNone/>
            </a:pPr>
            <a:r>
              <a:rPr lang="en-US" sz="2400" b="1" dirty="0" err="1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xxxxx</a:t>
            </a:r>
            <a:r>
              <a:rPr lang="en-US" sz="2400" b="1" dirty="0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    3   7    4   9    F   4xxx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59EA-3473-4F5B-A150-D9B886C94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Order + Byte Order</a:t>
            </a:r>
          </a:p>
        </p:txBody>
      </p:sp>
      <p:sp>
        <p:nvSpPr>
          <p:cNvPr id="4" name="Callout: Line with Accent Bar 3">
            <a:extLst>
              <a:ext uri="{FF2B5EF4-FFF2-40B4-BE49-F238E27FC236}">
                <a16:creationId xmlns:a16="http://schemas.microsoft.com/office/drawing/2014/main" id="{DC70F61D-7C36-462F-54A4-44A20C85B100}"/>
              </a:ext>
            </a:extLst>
          </p:cNvPr>
          <p:cNvSpPr/>
          <p:nvPr/>
        </p:nvSpPr>
        <p:spPr>
          <a:xfrm>
            <a:off x="2562416" y="5304108"/>
            <a:ext cx="674254" cy="748145"/>
          </a:xfrm>
          <a:prstGeom prst="accentCallout1">
            <a:avLst>
              <a:gd name="adj1" fmla="val 18750"/>
              <a:gd name="adj2" fmla="val -8333"/>
              <a:gd name="adj3" fmla="val -126302"/>
              <a:gd name="adj4" fmla="val -165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Bit 24</a:t>
            </a:r>
          </a:p>
        </p:txBody>
      </p:sp>
      <p:sp>
        <p:nvSpPr>
          <p:cNvPr id="5" name="Callout: Line with Accent Bar 4">
            <a:extLst>
              <a:ext uri="{FF2B5EF4-FFF2-40B4-BE49-F238E27FC236}">
                <a16:creationId xmlns:a16="http://schemas.microsoft.com/office/drawing/2014/main" id="{3C866645-D980-D912-1BBB-3EEEA952F585}"/>
              </a:ext>
            </a:extLst>
          </p:cNvPr>
          <p:cNvSpPr/>
          <p:nvPr/>
        </p:nvSpPr>
        <p:spPr>
          <a:xfrm>
            <a:off x="5049796" y="5304107"/>
            <a:ext cx="570134" cy="748145"/>
          </a:xfrm>
          <a:prstGeom prst="accentCallout1">
            <a:avLst>
              <a:gd name="adj1" fmla="val 10108"/>
              <a:gd name="adj2" fmla="val 110845"/>
              <a:gd name="adj3" fmla="val -128770"/>
              <a:gd name="adj4" fmla="val 188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Bit 1</a:t>
            </a:r>
          </a:p>
        </p:txBody>
      </p:sp>
    </p:spTree>
    <p:extLst>
      <p:ext uri="{BB962C8B-B14F-4D97-AF65-F5344CB8AC3E}">
        <p14:creationId xmlns:p14="http://schemas.microsoft.com/office/powerpoint/2010/main" val="104046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EF09D6-8692-471E-76A2-3BC95C681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about actual storage order</a:t>
            </a:r>
          </a:p>
          <a:p>
            <a:r>
              <a:rPr lang="en-US" dirty="0"/>
              <a:t>Rather: the way one chooses to number the bits</a:t>
            </a:r>
          </a:p>
          <a:p>
            <a:r>
              <a:rPr lang="en-US" dirty="0"/>
              <a:t>See: </a:t>
            </a:r>
            <a:r>
              <a:rPr lang="en-US" sz="2800" dirty="0"/>
              <a:t>https://daffodil.apache.org/tutorials/bitorder.tutorial.tdml.xml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623098-21E6-BC1E-686E-BDC8E0C4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Bit Order</a:t>
            </a:r>
          </a:p>
        </p:txBody>
      </p:sp>
    </p:spTree>
    <p:extLst>
      <p:ext uri="{BB962C8B-B14F-4D97-AF65-F5344CB8AC3E}">
        <p14:creationId xmlns:p14="http://schemas.microsoft.com/office/powerpoint/2010/main" val="2644343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5B6443-32C0-4A43-2085-F74F78B27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1500208" cy="442987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You can create binary data directly in TDML files</a:t>
            </a:r>
          </a:p>
          <a:p>
            <a:r>
              <a:rPr lang="en-US" dirty="0"/>
              <a:t>Often needed to construct detailed tests</a:t>
            </a:r>
          </a:p>
          <a:p>
            <a:pPr marL="533386" lvl="1" indent="0">
              <a:buNone/>
            </a:pPr>
            <a:r>
              <a:rPr lang="en-US" b="1" dirty="0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&lt;document&gt;</a:t>
            </a:r>
          </a:p>
          <a:p>
            <a:pPr marL="533386" lvl="1" indent="0">
              <a:buNone/>
            </a:pPr>
            <a:r>
              <a:rPr lang="en-US" b="1" dirty="0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  &lt;</a:t>
            </a:r>
            <a:r>
              <a:rPr lang="en-US" b="1" dirty="0" err="1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documentPart</a:t>
            </a:r>
            <a:r>
              <a:rPr lang="en-US" b="1" dirty="0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 type="byte"&gt;01BA 4FA0&lt;/</a:t>
            </a:r>
            <a:r>
              <a:rPr lang="en-US" b="1" dirty="0" err="1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documentPart</a:t>
            </a:r>
            <a:r>
              <a:rPr lang="en-US" b="1" dirty="0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&gt;</a:t>
            </a:r>
          </a:p>
          <a:p>
            <a:pPr marL="533386" lvl="1" indent="0">
              <a:buNone/>
            </a:pPr>
            <a:r>
              <a:rPr lang="en-US" b="1" dirty="0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  &lt;</a:t>
            </a:r>
            <a:r>
              <a:rPr lang="en-US" b="1" dirty="0" err="1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documentPart</a:t>
            </a:r>
            <a:r>
              <a:rPr lang="en-US" b="1" dirty="0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 type="bits"&gt; </a:t>
            </a:r>
          </a:p>
          <a:p>
            <a:pPr marL="533386" lvl="1" indent="0">
              <a:buNone/>
            </a:pPr>
            <a:r>
              <a:rPr lang="en-US" b="1" dirty="0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    00000001 10111010 01001111 10100000</a:t>
            </a:r>
          </a:p>
          <a:p>
            <a:pPr marL="533386" lvl="1" indent="0">
              <a:buNone/>
            </a:pPr>
            <a:r>
              <a:rPr lang="en-US" b="1" dirty="0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  &lt;/</a:t>
            </a:r>
            <a:r>
              <a:rPr lang="en-US" b="1" dirty="0" err="1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documentPart</a:t>
            </a:r>
            <a:r>
              <a:rPr lang="en-US" b="1" dirty="0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&gt;</a:t>
            </a:r>
          </a:p>
          <a:p>
            <a:pPr marL="533386" lvl="1" indent="0">
              <a:buNone/>
            </a:pPr>
            <a:r>
              <a:rPr lang="en-US" b="1" dirty="0">
                <a:latin typeface="Courier New" panose="02070309020205020404" pitchFamily="49" charset="0"/>
                <a:ea typeface="Noto Mono" panose="020B0609030804020204" pitchFamily="49" charset="0"/>
                <a:cs typeface="Courier New" panose="02070309020205020404" pitchFamily="49" charset="0"/>
              </a:rPr>
              <a:t>&lt;/document&gt;</a:t>
            </a:r>
          </a:p>
          <a:p>
            <a:r>
              <a:rPr lang="en-US" dirty="0"/>
              <a:t>R-to-L order and LSBF are supported also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4BFB68-BFA0-591B-25F3-B146C0306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TDML Data via Bits and Bytes</a:t>
            </a:r>
          </a:p>
        </p:txBody>
      </p:sp>
    </p:spTree>
    <p:extLst>
      <p:ext uri="{BB962C8B-B14F-4D97-AF65-F5344CB8AC3E}">
        <p14:creationId xmlns:p14="http://schemas.microsoft.com/office/powerpoint/2010/main" val="3181887775"/>
      </p:ext>
    </p:extLst>
  </p:cSld>
  <p:clrMapOvr>
    <a:masterClrMapping/>
  </p:clrMapOvr>
</p:sld>
</file>

<file path=ppt/theme/theme1.xml><?xml version="1.0" encoding="utf-8"?>
<a:theme xmlns:a="http://schemas.openxmlformats.org/drawingml/2006/main" name="Owl Tresy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70C0"/>
      </a:folHlink>
    </a:clrScheme>
    <a:fontScheme name="Noto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F-Daffodil-Powerpoint-Template.potx" id="{1B7B6B17-DD1C-4004-B1C8-A6B0E304C607}" vid="{E90DA38C-6206-4BBE-99F8-A6461D89AE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3770EEE52CD41AF88844CFD8CFC1F" ma:contentTypeVersion="19" ma:contentTypeDescription="Create a new document." ma:contentTypeScope="" ma:versionID="087aef2dacdf576614e125d015e2f287">
  <xsd:schema xmlns:xsd="http://www.w3.org/2001/XMLSchema" xmlns:xs="http://www.w3.org/2001/XMLSchema" xmlns:p="http://schemas.microsoft.com/office/2006/metadata/properties" xmlns:ns2="213a615a-fc15-48a4-b44f-57f78f25f7bf" xmlns:ns3="7ec4416c-5e17-4e82-a7de-d59c1ce11d89" targetNamespace="http://schemas.microsoft.com/office/2006/metadata/properties" ma:root="true" ma:fieldsID="aeb5c1f92c1e7d75cf293137a4dd3c28" ns2:_="" ns3:_="">
    <xsd:import namespace="213a615a-fc15-48a4-b44f-57f78f25f7bf"/>
    <xsd:import namespace="7ec4416c-5e17-4e82-a7de-d59c1ce11d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615a-fc15-48a4-b44f-57f78f25f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4416c-5e17-4e82-a7de-d59c1ce11d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E6E0BF-F4A0-41B6-8685-63FD81E4D1BE}">
  <ds:schemaRefs>
    <ds:schemaRef ds:uri="7ec4416c-5e17-4e82-a7de-d59c1ce11d8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213a615a-fc15-48a4-b44f-57f78f25f7bf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6448888-D94F-46D3-B5EF-CF8AC221F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3a615a-fc15-48a4-b44f-57f78f25f7bf"/>
    <ds:schemaRef ds:uri="7ec4416c-5e17-4e82-a7de-d59c1ce11d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870CC1-235C-4BD8-A628-EDFC5A270D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ASF-Daffodil-Powerpoint-Template</Template>
  <TotalTime>10</TotalTime>
  <Words>296</Words>
  <Application>Microsoft Office PowerPoint</Application>
  <PresentationFormat>Widescreen</PresentationFormat>
  <Paragraphs>52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Noto Sans</vt:lpstr>
      <vt:lpstr>Courier New</vt:lpstr>
      <vt:lpstr>Arial</vt:lpstr>
      <vt:lpstr>Wingdings</vt:lpstr>
      <vt:lpstr>Owl Tresys</vt:lpstr>
      <vt:lpstr>dfdl:lengthKind and dfdl:lengthUnits</vt:lpstr>
      <vt:lpstr>Bit Order + Byte Order</vt:lpstr>
      <vt:lpstr>Bit Order + Byte Order</vt:lpstr>
      <vt:lpstr>More on Bit Order</vt:lpstr>
      <vt:lpstr>TDML Data via Bits and Bytes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Beckerle, Mike</dc:creator>
  <cp:lastModifiedBy>Beckerle, Mike</cp:lastModifiedBy>
  <cp:revision>1</cp:revision>
  <dcterms:created xsi:type="dcterms:W3CDTF">2025-12-22T19:21:49Z</dcterms:created>
  <dcterms:modified xsi:type="dcterms:W3CDTF">2025-12-22T19:31:50Z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0x010100AA43770EEE52CD41AF88844CFD8CFC1F</vt:lpwstr>
  </property>
  <property fmtid="{D5CDD505-2E9C-101B-9397-08002B2CF9AE}" pid="3" name="_ColorHex">
    <vt:lpwstr/>
  </property>
  <property fmtid="{D5CDD505-2E9C-101B-9397-08002B2CF9AE}" pid="4" name="_Emoji">
    <vt:lpwstr/>
  </property>
  <property fmtid="{D5CDD505-2E9C-101B-9397-08002B2CF9AE}" pid="5" name="ComplianceAssetId">
    <vt:lpwstr/>
  </property>
  <property fmtid="{D5CDD505-2E9C-101B-9397-08002B2CF9AE}" pid="6" name="_ColorTag">
    <vt:lpwstr/>
  </property>
  <property fmtid="{D5CDD505-2E9C-101B-9397-08002B2CF9AE}" pid="7" name="_activity">
    <vt:lpwstr>{"FileActivityType":"9","FileActivityTimeStamp":"2023-03-15T22:05:42.377Z","FileActivityUsersOnPage":[{"DisplayName":"Beckerle, Mike","Id":"mbeckerle@owlcyberdefense.com"}],"FileActivityNavigationId":null}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GUID">
    <vt:lpwstr>9168c58c-4a65-49c7-bfad-dc0317203383</vt:lpwstr>
  </property>
  <property fmtid="{D5CDD505-2E9C-101B-9397-08002B2CF9AE}" pid="13" name="xd_Signature">
    <vt:bool>false</vt:bool>
  </property>
</Properties>
</file>
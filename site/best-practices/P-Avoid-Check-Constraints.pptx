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</p:sldMasterIdLst>
  <p:notesMasterIdLst>
    <p:notesMasterId r:id="rId13"/>
  </p:notesMasterIdLst>
  <p:handoutMasterIdLst>
    <p:handoutMasterId r:id="rId14"/>
  </p:handoutMasterIdLst>
  <p:sldIdLst>
    <p:sldId id="831" r:id="rId5"/>
    <p:sldId id="658" r:id="rId6"/>
    <p:sldId id="836" r:id="rId7"/>
    <p:sldId id="829" r:id="rId8"/>
    <p:sldId id="839" r:id="rId9"/>
    <p:sldId id="799" r:id="rId10"/>
    <p:sldId id="837" r:id="rId11"/>
    <p:sldId id="838" r:id="rId12"/>
  </p:sldIdLst>
  <p:sldSz cx="12192000" cy="6858000"/>
  <p:notesSz cx="6858000" cy="9144000"/>
  <p:embeddedFontLst>
    <p:embeddedFont>
      <p:font typeface="Noto Sans" panose="020B0502040504020204" pitchFamily="34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B61E61-8FB2-CE41-73A2-D18C7201AEBA}" name="Beckerle, Mike" initials="MB" userId="S::mbeckerle@owlcyberdefense.com::41155a9a-513c-4288-9ceb-5c90f574ab21" providerId="AD"/>
  <p188:author id="{244309C5-15C3-A979-A70C-136C3B0AC25A}" name="Sood, Harinder" initials="SH" userId="S::hsood@owlcyberdefense.com::0ec8c5c7-03d2-48d0-9195-1c9ef9f6dae3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0"/>
    <a:srgbClr val="16315A"/>
    <a:srgbClr val="0D203D"/>
    <a:srgbClr val="E6E7E8"/>
    <a:srgbClr val="0D2035"/>
    <a:srgbClr val="0D20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590A1F-9709-42E1-A748-409EDBBB1306}" v="1" dt="2025-12-24T19:25:19.4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6" autoAdjust="0"/>
    <p:restoredTop sz="92597" autoAdjust="0"/>
  </p:normalViewPr>
  <p:slideViewPr>
    <p:cSldViewPr snapToGrid="0" snapToObjects="1">
      <p:cViewPr varScale="1">
        <p:scale>
          <a:sx n="93" d="100"/>
          <a:sy n="93" d="100"/>
        </p:scale>
        <p:origin x="1206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 snapToObjects="1">
      <p:cViewPr varScale="1">
        <p:scale>
          <a:sx n="79" d="100"/>
          <a:sy n="79" d="100"/>
        </p:scale>
        <p:origin x="4020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ckerle, Mike" userId="41155a9a-513c-4288-9ceb-5c90f574ab21" providerId="ADAL" clId="{93EA92E5-423E-4026-A29C-DC3240D7B59D}"/>
    <pc:docChg chg="custSel addSld modSld">
      <pc:chgData name="Beckerle, Mike" userId="41155a9a-513c-4288-9ceb-5c90f574ab21" providerId="ADAL" clId="{93EA92E5-423E-4026-A29C-DC3240D7B59D}" dt="2025-12-24T19:32:07.497" v="1602" actId="114"/>
      <pc:docMkLst>
        <pc:docMk/>
      </pc:docMkLst>
      <pc:sldChg chg="modSp add mod">
        <pc:chgData name="Beckerle, Mike" userId="41155a9a-513c-4288-9ceb-5c90f574ab21" providerId="ADAL" clId="{93EA92E5-423E-4026-A29C-DC3240D7B59D}" dt="2025-12-24T19:29:52.631" v="1420" actId="20577"/>
        <pc:sldMkLst>
          <pc:docMk/>
          <pc:sldMk cId="1041829088" sldId="658"/>
        </pc:sldMkLst>
        <pc:spChg chg="mod">
          <ac:chgData name="Beckerle, Mike" userId="41155a9a-513c-4288-9ceb-5c90f574ab21" providerId="ADAL" clId="{93EA92E5-423E-4026-A29C-DC3240D7B59D}" dt="2025-12-24T19:27:19.725" v="1288" actId="20577"/>
          <ac:spMkLst>
            <pc:docMk/>
            <pc:sldMk cId="1041829088" sldId="658"/>
            <ac:spMk id="5" creationId="{87E454BF-E5AB-59F2-DCBC-3D2505555589}"/>
          </ac:spMkLst>
        </pc:spChg>
        <pc:spChg chg="mod">
          <ac:chgData name="Beckerle, Mike" userId="41155a9a-513c-4288-9ceb-5c90f574ab21" providerId="ADAL" clId="{93EA92E5-423E-4026-A29C-DC3240D7B59D}" dt="2025-12-24T19:29:52.631" v="1420" actId="20577"/>
          <ac:spMkLst>
            <pc:docMk/>
            <pc:sldMk cId="1041829088" sldId="658"/>
            <ac:spMk id="6" creationId="{F9615C40-6685-3E99-EE14-C899AD81A0E6}"/>
          </ac:spMkLst>
        </pc:spChg>
      </pc:sldChg>
      <pc:sldChg chg="modSp mod">
        <pc:chgData name="Beckerle, Mike" userId="41155a9a-513c-4288-9ceb-5c90f574ab21" providerId="ADAL" clId="{93EA92E5-423E-4026-A29C-DC3240D7B59D}" dt="2025-12-22T21:27:29.186" v="1188" actId="20577"/>
        <pc:sldMkLst>
          <pc:docMk/>
          <pc:sldMk cId="1819876571" sldId="799"/>
        </pc:sldMkLst>
        <pc:spChg chg="mod">
          <ac:chgData name="Beckerle, Mike" userId="41155a9a-513c-4288-9ceb-5c90f574ab21" providerId="ADAL" clId="{93EA92E5-423E-4026-A29C-DC3240D7B59D}" dt="2025-12-22T21:27:29.186" v="1188" actId="20577"/>
          <ac:spMkLst>
            <pc:docMk/>
            <pc:sldMk cId="1819876571" sldId="799"/>
            <ac:spMk id="30" creationId="{8E40D3BA-BD36-F70E-105F-42BA82EAD7FD}"/>
          </ac:spMkLst>
        </pc:spChg>
      </pc:sldChg>
      <pc:sldChg chg="mod modShow">
        <pc:chgData name="Beckerle, Mike" userId="41155a9a-513c-4288-9ceb-5c90f574ab21" providerId="ADAL" clId="{93EA92E5-423E-4026-A29C-DC3240D7B59D}" dt="2025-12-22T21:11:52.016" v="0" actId="729"/>
        <pc:sldMkLst>
          <pc:docMk/>
          <pc:sldMk cId="1947122302" sldId="829"/>
        </pc:sldMkLst>
      </pc:sldChg>
      <pc:sldChg chg="modSp add mod">
        <pc:chgData name="Beckerle, Mike" userId="41155a9a-513c-4288-9ceb-5c90f574ab21" providerId="ADAL" clId="{93EA92E5-423E-4026-A29C-DC3240D7B59D}" dt="2025-12-24T19:26:53.937" v="1262" actId="14100"/>
        <pc:sldMkLst>
          <pc:docMk/>
          <pc:sldMk cId="1842729767" sldId="831"/>
        </pc:sldMkLst>
        <pc:spChg chg="mod">
          <ac:chgData name="Beckerle, Mike" userId="41155a9a-513c-4288-9ceb-5c90f574ab21" providerId="ADAL" clId="{93EA92E5-423E-4026-A29C-DC3240D7B59D}" dt="2025-12-24T19:25:52.437" v="1211" actId="20577"/>
          <ac:spMkLst>
            <pc:docMk/>
            <pc:sldMk cId="1842729767" sldId="831"/>
            <ac:spMk id="5" creationId="{7844F438-1CB2-94D3-2A3B-FC46B820F68B}"/>
          </ac:spMkLst>
        </pc:spChg>
        <pc:spChg chg="mod">
          <ac:chgData name="Beckerle, Mike" userId="41155a9a-513c-4288-9ceb-5c90f574ab21" providerId="ADAL" clId="{93EA92E5-423E-4026-A29C-DC3240D7B59D}" dt="2025-12-24T19:26:53.937" v="1262" actId="14100"/>
          <ac:spMkLst>
            <pc:docMk/>
            <pc:sldMk cId="1842729767" sldId="831"/>
            <ac:spMk id="11" creationId="{7BA8BB64-DCC3-0996-DD58-499CFD505D2E}"/>
          </ac:spMkLst>
        </pc:spChg>
        <pc:spChg chg="mod">
          <ac:chgData name="Beckerle, Mike" userId="41155a9a-513c-4288-9ceb-5c90f574ab21" providerId="ADAL" clId="{93EA92E5-423E-4026-A29C-DC3240D7B59D}" dt="2025-12-24T19:26:16.732" v="1220" actId="1076"/>
          <ac:spMkLst>
            <pc:docMk/>
            <pc:sldMk cId="1842729767" sldId="831"/>
            <ac:spMk id="12" creationId="{82C26EFF-289A-AADB-954F-75629D8B62AA}"/>
          </ac:spMkLst>
        </pc:spChg>
      </pc:sldChg>
      <pc:sldChg chg="modSp mod modShow">
        <pc:chgData name="Beckerle, Mike" userId="41155a9a-513c-4288-9ceb-5c90f574ab21" providerId="ADAL" clId="{93EA92E5-423E-4026-A29C-DC3240D7B59D}" dt="2025-12-24T19:31:38.920" v="1601" actId="20577"/>
        <pc:sldMkLst>
          <pc:docMk/>
          <pc:sldMk cId="3059590" sldId="836"/>
        </pc:sldMkLst>
        <pc:spChg chg="mod">
          <ac:chgData name="Beckerle, Mike" userId="41155a9a-513c-4288-9ceb-5c90f574ab21" providerId="ADAL" clId="{93EA92E5-423E-4026-A29C-DC3240D7B59D}" dt="2025-12-24T19:31:38.920" v="1601" actId="20577"/>
          <ac:spMkLst>
            <pc:docMk/>
            <pc:sldMk cId="3059590" sldId="836"/>
            <ac:spMk id="6" creationId="{22713275-1AB9-0C4B-9EC2-1B647F73D168}"/>
          </ac:spMkLst>
        </pc:spChg>
      </pc:sldChg>
      <pc:sldChg chg="mod modShow">
        <pc:chgData name="Beckerle, Mike" userId="41155a9a-513c-4288-9ceb-5c90f574ab21" providerId="ADAL" clId="{93EA92E5-423E-4026-A29C-DC3240D7B59D}" dt="2025-12-22T21:11:52.016" v="0" actId="729"/>
        <pc:sldMkLst>
          <pc:docMk/>
          <pc:sldMk cId="1518763213" sldId="837"/>
        </pc:sldMkLst>
      </pc:sldChg>
      <pc:sldChg chg="mod modShow">
        <pc:chgData name="Beckerle, Mike" userId="41155a9a-513c-4288-9ceb-5c90f574ab21" providerId="ADAL" clId="{93EA92E5-423E-4026-A29C-DC3240D7B59D}" dt="2025-12-22T21:11:52.016" v="0" actId="729"/>
        <pc:sldMkLst>
          <pc:docMk/>
          <pc:sldMk cId="820147246" sldId="838"/>
        </pc:sldMkLst>
      </pc:sldChg>
      <pc:sldChg chg="addSp delSp modSp new mod modClrScheme chgLayout">
        <pc:chgData name="Beckerle, Mike" userId="41155a9a-513c-4288-9ceb-5c90f574ab21" providerId="ADAL" clId="{93EA92E5-423E-4026-A29C-DC3240D7B59D}" dt="2025-12-24T19:32:07.497" v="1602" actId="114"/>
        <pc:sldMkLst>
          <pc:docMk/>
          <pc:sldMk cId="1543602815" sldId="839"/>
        </pc:sldMkLst>
        <pc:spChg chg="mod ord">
          <ac:chgData name="Beckerle, Mike" userId="41155a9a-513c-4288-9ceb-5c90f574ab21" providerId="ADAL" clId="{93EA92E5-423E-4026-A29C-DC3240D7B59D}" dt="2025-12-22T21:24:54.249" v="888" actId="700"/>
          <ac:spMkLst>
            <pc:docMk/>
            <pc:sldMk cId="1543602815" sldId="839"/>
            <ac:spMk id="3" creationId="{D9A0B102-19C2-0E7B-3B81-74BD38797197}"/>
          </ac:spMkLst>
        </pc:spChg>
        <pc:spChg chg="add mod ord">
          <ac:chgData name="Beckerle, Mike" userId="41155a9a-513c-4288-9ceb-5c90f574ab21" providerId="ADAL" clId="{93EA92E5-423E-4026-A29C-DC3240D7B59D}" dt="2025-12-22T21:25:28.425" v="948" actId="20577"/>
          <ac:spMkLst>
            <pc:docMk/>
            <pc:sldMk cId="1543602815" sldId="839"/>
            <ac:spMk id="4" creationId="{67ACDC5E-EE7C-E72A-E29F-05AD91CB3A92}"/>
          </ac:spMkLst>
        </pc:spChg>
        <pc:spChg chg="add mod ord">
          <ac:chgData name="Beckerle, Mike" userId="41155a9a-513c-4288-9ceb-5c90f574ab21" providerId="ADAL" clId="{93EA92E5-423E-4026-A29C-DC3240D7B59D}" dt="2025-12-24T19:32:07.497" v="1602" actId="114"/>
          <ac:spMkLst>
            <pc:docMk/>
            <pc:sldMk cId="1543602815" sldId="839"/>
            <ac:spMk id="5" creationId="{C134B299-F442-8954-4FA4-3B3D087AD036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F250A63-030B-4438-BE70-50EDBC0866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Noto Sans" panose="020B0502040504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3974D0-9B26-43B7-8963-F4122ECD150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E6C127-A84A-41C1-BFB1-ED6D88031FE2}" type="datetimeFigureOut">
              <a:rPr lang="en-US" smtClean="0">
                <a:latin typeface="Noto Sans" panose="020B0502040504020204" pitchFamily="34" charset="0"/>
              </a:rPr>
              <a:t>12/24/2025</a:t>
            </a:fld>
            <a:endParaRPr lang="en-US" dirty="0">
              <a:latin typeface="Noto Sans" panose="020B0502040504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FAB04E-AA39-4BDF-9C11-00567415CA2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Noto Sans" panose="020B0502040504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B39012-E7C3-4A01-A659-BF6A28F5913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120852-FEC4-42AD-B3FE-D542A75F8A1A}" type="slidenum">
              <a:rPr lang="en-US" smtClean="0">
                <a:latin typeface="Noto Sans" panose="020B0502040504020204" pitchFamily="34" charset="0"/>
              </a:rPr>
              <a:t>‹#›</a:t>
            </a:fld>
            <a:endParaRPr lang="en-US" dirty="0">
              <a:latin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807729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Noto Sans" panose="020B050204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Noto Sans" panose="020B0502040504020204" pitchFamily="34" charset="0"/>
              </a:defRPr>
            </a:lvl1pPr>
          </a:lstStyle>
          <a:p>
            <a:fld id="{104331F3-F512-0241-93B1-4EC568B308ED}" type="datetimeFigureOut">
              <a:rPr lang="en-US" smtClean="0"/>
              <a:pPr/>
              <a:t>12/24/2025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Noto Sans" panose="020B0502040504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Noto Sans" panose="020B0502040504020204" pitchFamily="34" charset="0"/>
              </a:defRPr>
            </a:lvl1pPr>
          </a:lstStyle>
          <a:p>
            <a:fld id="{CF152513-84CE-DE4C-84E6-0C1BDA4E2D29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3457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Noto Sans" panose="020B0502040504020204" pitchFamily="34" charset="0"/>
        <a:ea typeface="+mn-ea"/>
        <a:cs typeface="+mn-cs"/>
      </a:defRPr>
    </a:lvl1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5484" y="125004"/>
            <a:ext cx="9654540" cy="680539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325482" y="1007950"/>
            <a:ext cx="11465923" cy="5135834"/>
          </a:xfrm>
        </p:spPr>
        <p:txBody>
          <a:bodyPr/>
          <a:lstStyle>
            <a:lvl1pPr marL="457189" indent="-457189">
              <a:lnSpc>
                <a:spcPct val="100000"/>
              </a:lnSpc>
              <a:buFont typeface="Wingdings" panose="05000000000000000000" pitchFamily="2" charset="2"/>
              <a:buChar char="§"/>
              <a:defRPr sz="3200">
                <a:solidFill>
                  <a:schemeClr val="tx2"/>
                </a:solidFill>
                <a:latin typeface="+mn-lt"/>
              </a:defRPr>
            </a:lvl1pPr>
            <a:lvl2pPr marL="990575" indent="-380990">
              <a:lnSpc>
                <a:spcPct val="100000"/>
              </a:lnSpc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+mn-lt"/>
              </a:defRPr>
            </a:lvl2pPr>
            <a:lvl3pPr marL="1523962" indent="-304792">
              <a:lnSpc>
                <a:spcPct val="100000"/>
              </a:lnSpc>
              <a:buFont typeface="Wingdings" panose="05000000000000000000" pitchFamily="2" charset="2"/>
              <a:buChar char="§"/>
              <a:defRPr sz="2400">
                <a:solidFill>
                  <a:schemeClr val="tx1"/>
                </a:solidFill>
                <a:latin typeface="+mn-lt"/>
              </a:defRPr>
            </a:lvl3pPr>
            <a:lvl4pPr>
              <a:lnSpc>
                <a:spcPct val="100000"/>
              </a:lnSpc>
              <a:defRPr sz="2000">
                <a:solidFill>
                  <a:schemeClr val="tx1"/>
                </a:solidFill>
                <a:latin typeface="+mn-lt"/>
              </a:defRPr>
            </a:lvl4pPr>
            <a:lvl5pPr>
              <a:lnSpc>
                <a:spcPct val="100000"/>
              </a:lnSpc>
              <a:defRPr sz="180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effectLst/>
              </a:defRPr>
            </a:lvl1pPr>
          </a:lstStyle>
          <a:p>
            <a:fld id="{E87A9C04-9BE2-4A9F-A3FE-72B9698802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1903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54725" y="124414"/>
            <a:ext cx="9516291" cy="72031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b="1">
                <a:effectLst/>
              </a:defRPr>
            </a:lvl1pPr>
          </a:lstStyle>
          <a:p>
            <a:fld id="{E87A9C04-9BE2-4A9F-A3FE-72B9698802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368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6BF1-6423-496B-B3DA-CA30B590FFC3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ooter Placeholder 3">
            <a:extLst>
              <a:ext uri="{FF2B5EF4-FFF2-40B4-BE49-F238E27FC236}">
                <a16:creationId xmlns:a16="http://schemas.microsoft.com/office/drawing/2014/main" id="{24DFD781-4AB8-73B9-F713-FE43379C30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64704" y="6363123"/>
            <a:ext cx="5402347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9301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hyperlink" Target="https://www.apache.org/licenses/LICENSE-2.0" TargetMode="Externa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0209BB2-F79A-234D-8E9E-E1D2049678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560" y="140254"/>
            <a:ext cx="9772131" cy="7338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AD83F1-A007-0E40-9860-7C73664E5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7560" y="1404303"/>
            <a:ext cx="11365800" cy="4639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5A2C13-ADE4-454D-A0F2-F3883FD2D7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572206" y="6376580"/>
            <a:ext cx="781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Noto Sans" panose="020B0502040504020204" pitchFamily="34" charset="0"/>
              </a:defRPr>
            </a:lvl1pPr>
          </a:lstStyle>
          <a:p>
            <a:fld id="{E86E9A59-3F40-F444-BD0F-26E6D063A5F0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0" name="Picture 9" descr="Logo&#10;&#10;AI-generated content may be incorrect.">
            <a:extLst>
              <a:ext uri="{FF2B5EF4-FFF2-40B4-BE49-F238E27FC236}">
                <a16:creationId xmlns:a16="http://schemas.microsoft.com/office/drawing/2014/main" id="{D476FC69-7F9A-14CE-4937-48E3A8F81D3F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83925" y="6290557"/>
            <a:ext cx="930276" cy="4883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002571-4629-40DC-3401-F80007F4B32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10134600" y="140254"/>
            <a:ext cx="1868263" cy="35187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225BEF2-EF2E-E5C3-C2A5-00069AB7BBB3}"/>
              </a:ext>
            </a:extLst>
          </p:cNvPr>
          <p:cNvSpPr txBox="1"/>
          <p:nvPr userDrawn="1"/>
        </p:nvSpPr>
        <p:spPr>
          <a:xfrm>
            <a:off x="1175161" y="6382408"/>
            <a:ext cx="27045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Copyright © 2025 The Apache Software Foundation, </a:t>
            </a:r>
          </a:p>
          <a:p>
            <a:r>
              <a:rPr lang="en-US" sz="800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</a:rPr>
              <a:t>Licensed under the </a:t>
            </a:r>
            <a:r>
              <a:rPr lang="en-US" sz="800" u="sng" dirty="0">
                <a:latin typeface="Noto Sans" panose="020B0502040504020204" pitchFamily="34" charset="0"/>
                <a:ea typeface="Noto Sans" panose="020B0502040504020204" pitchFamily="34" charset="0"/>
                <a:cs typeface="Noto Sans" panose="020B0502040504020204" pitchFamily="34" charset="0"/>
                <a:hlinkClick r:id="rId7"/>
              </a:rPr>
              <a:t>Apache License, Version 2.0</a:t>
            </a:r>
            <a:endParaRPr lang="en-US" sz="800" dirty="0">
              <a:latin typeface="Noto Sans" panose="020B0502040504020204" pitchFamily="34" charset="0"/>
              <a:ea typeface="Noto Sans" panose="020B0502040504020204" pitchFamily="34" charset="0"/>
              <a:cs typeface="Noto Sans" panose="020B0502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68559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2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Noto Sans" panose="020B0502040504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Noto Sans" panose="020B0502040504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Noto Sans" panose="020B0502040504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Noto Sans" panose="020B0502040504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Noto Sans" panose="020B0502040504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Noto Sans" panose="020B0502040504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844F438-1CB2-94D3-2A3B-FC46B820F6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Well-Formed vs Valid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356B69-A5E2-3B89-70C2-0565E3252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22C6BF1-6423-496B-B3DA-CA30B590FFC3}" type="slidenum">
              <a:rPr lang="en-US" smtClean="0"/>
              <a:t>1</a:t>
            </a:fld>
            <a:endParaRPr lang="en-US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17361E7-F307-EAFC-091F-7AE10DFC86D5}"/>
              </a:ext>
            </a:extLst>
          </p:cNvPr>
          <p:cNvSpPr/>
          <p:nvPr/>
        </p:nvSpPr>
        <p:spPr>
          <a:xfrm>
            <a:off x="8712200" y="1109133"/>
            <a:ext cx="2797866" cy="5181599"/>
          </a:xfrm>
          <a:prstGeom prst="ellipse">
            <a:avLst/>
          </a:prstGeom>
          <a:solidFill>
            <a:srgbClr val="FFCC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1" dirty="0">
                <a:solidFill>
                  <a:schemeClr val="tx1"/>
                </a:solidFill>
              </a:rPr>
              <a:t>Malformed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DFDL Parse Fails</a:t>
            </a:r>
          </a:p>
          <a:p>
            <a:pPr algn="ctr"/>
            <a:endParaRPr lang="en-US" dirty="0">
              <a:solidFill>
                <a:schemeClr val="tx1"/>
              </a:solidFill>
            </a:endParaRPr>
          </a:p>
          <a:p>
            <a:pPr algn="ctr"/>
            <a:r>
              <a:rPr lang="en-US" dirty="0">
                <a:solidFill>
                  <a:schemeClr val="tx1"/>
                </a:solidFill>
              </a:rPr>
              <a:t>Can't create any XML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A94B24D-6877-DD0D-8AE4-FD51D73C499D}"/>
              </a:ext>
            </a:extLst>
          </p:cNvPr>
          <p:cNvSpPr/>
          <p:nvPr/>
        </p:nvSpPr>
        <p:spPr>
          <a:xfrm>
            <a:off x="118334" y="1109133"/>
            <a:ext cx="8593866" cy="5427133"/>
          </a:xfrm>
          <a:prstGeom prst="ellipse">
            <a:avLst/>
          </a:prstGeom>
          <a:solidFill>
            <a:schemeClr val="accent3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AD36B97A-040A-0090-987E-1BD53A396167}"/>
              </a:ext>
            </a:extLst>
          </p:cNvPr>
          <p:cNvSpPr/>
          <p:nvPr/>
        </p:nvSpPr>
        <p:spPr>
          <a:xfrm>
            <a:off x="270734" y="1912358"/>
            <a:ext cx="5478133" cy="3664721"/>
          </a:xfrm>
          <a:prstGeom prst="ellipse">
            <a:avLst/>
          </a:prstGeom>
          <a:solidFill>
            <a:schemeClr val="accent3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8667CDED-FDE9-BC44-D882-B8B6257DB72A}"/>
              </a:ext>
            </a:extLst>
          </p:cNvPr>
          <p:cNvSpPr/>
          <p:nvPr/>
        </p:nvSpPr>
        <p:spPr>
          <a:xfrm>
            <a:off x="423134" y="2429932"/>
            <a:ext cx="2747357" cy="2629572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45EF9-CD91-6380-B634-5162C85DB0A2}"/>
              </a:ext>
            </a:extLst>
          </p:cNvPr>
          <p:cNvSpPr txBox="1"/>
          <p:nvPr/>
        </p:nvSpPr>
        <p:spPr>
          <a:xfrm>
            <a:off x="6096000" y="2887133"/>
            <a:ext cx="248818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Well-Formed</a:t>
            </a:r>
          </a:p>
          <a:p>
            <a:endParaRPr lang="en-US" dirty="0"/>
          </a:p>
          <a:p>
            <a:r>
              <a:rPr lang="en-US" dirty="0"/>
              <a:t>DFDL Parse Succeeds</a:t>
            </a:r>
          </a:p>
          <a:p>
            <a:endParaRPr lang="en-US" dirty="0"/>
          </a:p>
          <a:p>
            <a:r>
              <a:rPr lang="en-US" dirty="0"/>
              <a:t>XML is Created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A8BB64-DCC3-0996-DD58-499CFD505D2E}"/>
              </a:ext>
            </a:extLst>
          </p:cNvPr>
          <p:cNvSpPr txBox="1"/>
          <p:nvPr/>
        </p:nvSpPr>
        <p:spPr>
          <a:xfrm>
            <a:off x="3322891" y="2617969"/>
            <a:ext cx="225597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Valid</a:t>
            </a:r>
          </a:p>
          <a:p>
            <a:endParaRPr lang="en-US" dirty="0"/>
          </a:p>
          <a:p>
            <a:r>
              <a:rPr lang="en-US" dirty="0"/>
              <a:t>XML Schema Facet</a:t>
            </a:r>
          </a:p>
          <a:p>
            <a:r>
              <a:rPr lang="en-US" dirty="0"/>
              <a:t>Constraints Hold</a:t>
            </a:r>
          </a:p>
          <a:p>
            <a:endParaRPr lang="en-US" dirty="0"/>
          </a:p>
          <a:p>
            <a:r>
              <a:rPr lang="en-US" dirty="0" err="1"/>
              <a:t>Schematron</a:t>
            </a:r>
            <a:r>
              <a:rPr lang="en-US" dirty="0"/>
              <a:t> Rules Pass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2C26EFF-289A-AADB-954F-75629D8B62AA}"/>
              </a:ext>
            </a:extLst>
          </p:cNvPr>
          <p:cNvSpPr txBox="1"/>
          <p:nvPr/>
        </p:nvSpPr>
        <p:spPr>
          <a:xfrm>
            <a:off x="1208455" y="3499533"/>
            <a:ext cx="9909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i="1" dirty="0"/>
              <a:t>Correct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27297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TextShape 1"/>
          <p:cNvSpPr txBox="1"/>
          <p:nvPr/>
        </p:nvSpPr>
        <p:spPr>
          <a:xfrm>
            <a:off x="1981200" y="351000"/>
            <a:ext cx="8229240" cy="5630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>
              <a:lnSpc>
                <a:spcPct val="100000"/>
              </a:lnSpc>
            </a:pPr>
            <a:endParaRPr lang="en-US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 Light"/>
            </a:endParaRPr>
          </a:p>
        </p:txBody>
      </p:sp>
      <p:sp>
        <p:nvSpPr>
          <p:cNvPr id="94" name="TextShape 2"/>
          <p:cNvSpPr txBox="1"/>
          <p:nvPr/>
        </p:nvSpPr>
        <p:spPr>
          <a:xfrm>
            <a:off x="1981200" y="1066680"/>
            <a:ext cx="8229240" cy="523252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lstStyle/>
          <a:p>
            <a:endParaRPr lang="en-US" sz="2800" spc="-1" dirty="0">
              <a:solidFill>
                <a:srgbClr val="23408F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615C40-6685-3E99-EE14-C899AD81A0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1066800"/>
            <a:ext cx="11605067" cy="5105400"/>
          </a:xfrm>
        </p:spPr>
        <p:txBody>
          <a:bodyPr vert="horz" lIns="91440" tIns="45720" rIns="91440" bIns="45720" rtlCol="0" anchor="t">
            <a:normAutofit fontScale="55000" lnSpcReduction="20000"/>
          </a:bodyPr>
          <a:lstStyle/>
          <a:p>
            <a:r>
              <a:rPr lang="en-US" dirty="0"/>
              <a:t>Malformed Data</a:t>
            </a:r>
          </a:p>
          <a:p>
            <a:pPr lvl="1"/>
            <a:r>
              <a:rPr lang="en-US" dirty="0"/>
              <a:t>DFDL Parse fails - we cannot even create XML from the data</a:t>
            </a:r>
          </a:p>
          <a:p>
            <a:pPr lvl="1"/>
            <a:endParaRPr lang="en-US" dirty="0"/>
          </a:p>
          <a:p>
            <a:r>
              <a:rPr lang="en-US" dirty="0"/>
              <a:t>Well-Formed Data</a:t>
            </a:r>
          </a:p>
          <a:p>
            <a:pPr lvl="1"/>
            <a:r>
              <a:rPr lang="en-US" dirty="0"/>
              <a:t>Can find every field's location and length</a:t>
            </a:r>
          </a:p>
          <a:p>
            <a:pPr lvl="1"/>
            <a:r>
              <a:rPr lang="en-US" dirty="0"/>
              <a:t>Can convert each field to its logical type</a:t>
            </a:r>
          </a:p>
          <a:p>
            <a:pPr lvl="1"/>
            <a:r>
              <a:rPr lang="en-US" dirty="0"/>
              <a:t>DFDL Parse can succeed</a:t>
            </a:r>
          </a:p>
          <a:p>
            <a:pPr lvl="1"/>
            <a:r>
              <a:rPr lang="en-US" dirty="0"/>
              <a:t>Can create XML from the data</a:t>
            </a:r>
          </a:p>
          <a:p>
            <a:pPr lvl="1"/>
            <a:r>
              <a:rPr lang="en-US" dirty="0"/>
              <a:t>But note: This XML </a:t>
            </a:r>
            <a:r>
              <a:rPr lang="en-US" i="1" dirty="0"/>
              <a:t>may not be valid</a:t>
            </a:r>
          </a:p>
          <a:p>
            <a:endParaRPr lang="en-US" dirty="0"/>
          </a:p>
          <a:p>
            <a:r>
              <a:rPr lang="en-US" dirty="0"/>
              <a:t>Valid Data</a:t>
            </a:r>
          </a:p>
          <a:p>
            <a:pPr lvl="1"/>
            <a:r>
              <a:rPr lang="en-US" dirty="0"/>
              <a:t>Obeys schema constraints (facets, </a:t>
            </a:r>
            <a:r>
              <a:rPr lang="en-US" dirty="0" err="1"/>
              <a:t>Schematron</a:t>
            </a:r>
            <a:r>
              <a:rPr lang="en-US" dirty="0"/>
              <a:t> rules)</a:t>
            </a:r>
          </a:p>
          <a:p>
            <a:pPr lvl="2"/>
            <a:r>
              <a:rPr lang="en-US" dirty="0"/>
              <a:t>Range of numbers, dates, times, patterns of text</a:t>
            </a:r>
          </a:p>
          <a:p>
            <a:pPr lvl="1"/>
            <a:r>
              <a:rPr lang="en-US" dirty="0"/>
              <a:t>Validation usually done by separate filter step or steps, not the DFDL Parser</a:t>
            </a:r>
          </a:p>
          <a:p>
            <a:pPr lvl="1"/>
            <a:endParaRPr lang="en-US" dirty="0"/>
          </a:p>
          <a:p>
            <a:r>
              <a:rPr lang="en-US" dirty="0"/>
              <a:t>Correct Data</a:t>
            </a:r>
          </a:p>
          <a:p>
            <a:pPr lvl="1"/>
            <a:r>
              <a:rPr lang="en-US" dirty="0"/>
              <a:t>All applications run without issues.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65B1C2-1F9F-D3F1-09FB-DEB76476C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514338" y="6384454"/>
            <a:ext cx="508000" cy="365125"/>
          </a:xfrm>
        </p:spPr>
        <p:txBody>
          <a:bodyPr/>
          <a:lstStyle/>
          <a:p>
            <a:fld id="{E87A9C04-9BE2-4A9F-A3FE-72B96988022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7E454BF-E5AB-59F2-DCBC-3D25055555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553" y="162289"/>
            <a:ext cx="11732313" cy="563563"/>
          </a:xfrm>
        </p:spPr>
        <p:txBody>
          <a:bodyPr>
            <a:normAutofit fontScale="90000"/>
          </a:bodyPr>
          <a:lstStyle/>
          <a:p>
            <a:r>
              <a:rPr lang="en-US" dirty="0"/>
              <a:t>Well-Formed vs Valid</a:t>
            </a:r>
          </a:p>
        </p:txBody>
      </p:sp>
    </p:spTree>
    <p:extLst>
      <p:ext uri="{BB962C8B-B14F-4D97-AF65-F5344CB8AC3E}">
        <p14:creationId xmlns:p14="http://schemas.microsoft.com/office/powerpoint/2010/main" val="1041829088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D4F69-4611-74D9-2369-28842BA7C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8B2117D-CBAC-6453-A059-71DA5804E6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Well-Formed vs. Valid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713275-1AB9-0C4B-9EC2-1B647F73D1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Well-Formed</a:t>
            </a:r>
          </a:p>
          <a:p>
            <a:pPr lvl="1"/>
            <a:r>
              <a:rPr lang="en-US" dirty="0"/>
              <a:t>can determine start position and length</a:t>
            </a:r>
          </a:p>
          <a:p>
            <a:pPr lvl="1"/>
            <a:r>
              <a:rPr lang="en-US" dirty="0"/>
              <a:t>bits are convertible to the expected simple type</a:t>
            </a:r>
          </a:p>
          <a:p>
            <a:r>
              <a:rPr lang="en-US" dirty="0"/>
              <a:t>Valid</a:t>
            </a:r>
          </a:p>
          <a:p>
            <a:pPr lvl="1"/>
            <a:r>
              <a:rPr lang="en-US" dirty="0"/>
              <a:t>Schema Valid - data obeys facets and max/min occurs </a:t>
            </a:r>
          </a:p>
          <a:p>
            <a:pPr lvl="1"/>
            <a:r>
              <a:rPr lang="en-US" dirty="0" err="1"/>
              <a:t>Schematron</a:t>
            </a:r>
            <a:r>
              <a:rPr lang="en-US" dirty="0"/>
              <a:t> Valid - data obeys additional rules</a:t>
            </a:r>
          </a:p>
          <a:p>
            <a:r>
              <a:rPr lang="en-US" dirty="0"/>
              <a:t>Parsing should accept well-formed data</a:t>
            </a:r>
          </a:p>
          <a:p>
            <a:r>
              <a:rPr lang="en-US" dirty="0"/>
              <a:t>Parsing should </a:t>
            </a:r>
            <a:r>
              <a:rPr lang="en-US" i="1" dirty="0"/>
              <a:t>reject</a:t>
            </a:r>
            <a:r>
              <a:rPr lang="en-US" dirty="0"/>
              <a:t> malformed data (important)</a:t>
            </a:r>
          </a:p>
          <a:p>
            <a:pPr lvl="1"/>
            <a:r>
              <a:rPr lang="en-US" dirty="0"/>
              <a:t>It's easy to write a DFDL schema that accepts well-formed and lots of malformed data also.</a:t>
            </a:r>
          </a:p>
          <a:p>
            <a:pPr lvl="1"/>
            <a:r>
              <a:rPr lang="en-US" dirty="0"/>
              <a:t>Must design the schema to reject malformed as well as accept well-formed data.</a:t>
            </a:r>
          </a:p>
          <a:p>
            <a:r>
              <a:rPr lang="en-US" dirty="0"/>
              <a:t>Parsing should </a:t>
            </a:r>
            <a:r>
              <a:rPr lang="en-US" b="1" i="1" dirty="0"/>
              <a:t>not</a:t>
            </a:r>
            <a:r>
              <a:rPr lang="en-US" dirty="0"/>
              <a:t> reject </a:t>
            </a:r>
            <a:r>
              <a:rPr lang="en-US" i="1" dirty="0"/>
              <a:t>invalid</a:t>
            </a:r>
            <a:r>
              <a:rPr lang="en-US" dirty="0"/>
              <a:t> data</a:t>
            </a:r>
          </a:p>
          <a:p>
            <a:pPr lvl="1"/>
            <a:r>
              <a:rPr lang="en-US" dirty="0"/>
              <a:t>Why? - Forensics: so you can look at the invalid data!</a:t>
            </a:r>
          </a:p>
          <a:p>
            <a:pPr lvl="2"/>
            <a:r>
              <a:rPr lang="en-US" dirty="0"/>
              <a:t>Without this you can't even see the data - you can't parse it into memory</a:t>
            </a:r>
          </a:p>
          <a:p>
            <a:pPr lvl="1"/>
            <a:r>
              <a:rPr lang="en-US" dirty="0"/>
              <a:t>Second why: Composition properties</a:t>
            </a:r>
          </a:p>
          <a:p>
            <a:pPr lvl="2"/>
            <a:r>
              <a:rPr lang="en-US" dirty="0"/>
              <a:t>DFDL assumes a backtracking parser. </a:t>
            </a:r>
          </a:p>
          <a:p>
            <a:pPr lvl="2"/>
            <a:r>
              <a:rPr lang="en-US" dirty="0"/>
              <a:t>Use of </a:t>
            </a:r>
            <a:r>
              <a:rPr lang="en-US" dirty="0" err="1"/>
              <a:t>dfdl:checkConstraints</a:t>
            </a:r>
            <a:r>
              <a:rPr lang="en-US" dirty="0"/>
              <a:t>(.) function will cause backtracking to try other alternatives when data is well-formed (just invalid)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4A4708-B808-5A8B-222A-3E1C7152B5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E9A59-3F40-F444-BD0F-26E6D063A5F0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95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3DCFF-A2CC-DFE9-9D68-DBFCFFBED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DAEB7C67-F0CF-2431-BBDE-A752CB238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using </a:t>
            </a:r>
            <a:r>
              <a:rPr lang="en-US" dirty="0" err="1"/>
              <a:t>dfdl:checkConstraints</a:t>
            </a:r>
            <a:r>
              <a:rPr lang="en-US" dirty="0"/>
              <a:t>()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575D1F9-5623-6630-14A2-F65359563B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 err="1"/>
              <a:t>dfdl:checkConstraints</a:t>
            </a:r>
            <a:r>
              <a:rPr lang="en-US" dirty="0"/>
              <a:t>(.) escalates XSD facet check failures into DFDL parse errors</a:t>
            </a:r>
          </a:p>
          <a:p>
            <a:endParaRPr lang="en-US" dirty="0"/>
          </a:p>
          <a:p>
            <a:r>
              <a:rPr lang="en-US" dirty="0"/>
              <a:t>Proper uses: To check facets that are associated with well-formed data. </a:t>
            </a:r>
          </a:p>
          <a:p>
            <a:r>
              <a:rPr lang="en-US" dirty="0"/>
              <a:t>Example 1: data has 3 kinds of records encoded by a single-character code which must be A, F, or Q. </a:t>
            </a:r>
          </a:p>
          <a:p>
            <a:pPr lvl="1"/>
            <a:r>
              <a:rPr lang="en-US" dirty="0"/>
              <a:t>If the code is not one of those, it's an error and you can't parse the data</a:t>
            </a:r>
          </a:p>
          <a:p>
            <a:pPr lvl="1"/>
            <a:r>
              <a:rPr lang="en-US" dirty="0"/>
              <a:t>Express this as XSD enumeration facets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dfdl:checkConstraints</a:t>
            </a:r>
            <a:r>
              <a:rPr lang="en-US" dirty="0"/>
              <a:t>(.) so the parse fails if the A, F, or Q are not found. </a:t>
            </a:r>
          </a:p>
          <a:p>
            <a:r>
              <a:rPr lang="en-US" dirty="0"/>
              <a:t>Example 2: data has a length or count (array number of items) field which is 32 bits, but the maximum value is 9999. Longer lengths or larger counts cannot be represented. </a:t>
            </a:r>
          </a:p>
          <a:p>
            <a:pPr lvl="1"/>
            <a:r>
              <a:rPr lang="en-US" dirty="0"/>
              <a:t>Express this as a </a:t>
            </a:r>
            <a:r>
              <a:rPr lang="en-US" dirty="0" err="1"/>
              <a:t>maxInclusive</a:t>
            </a:r>
            <a:r>
              <a:rPr lang="en-US" dirty="0"/>
              <a:t> facet on an unsigned int type.</a:t>
            </a:r>
          </a:p>
          <a:p>
            <a:pPr lvl="1"/>
            <a:r>
              <a:rPr lang="en-US" dirty="0"/>
              <a:t>Use </a:t>
            </a:r>
            <a:r>
              <a:rPr lang="en-US" dirty="0" err="1"/>
              <a:t>dfdl:checkConstraints</a:t>
            </a:r>
            <a:r>
              <a:rPr lang="en-US" dirty="0"/>
              <a:t>(.) to ensure the length/count is not excessive.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4CF3A9-469F-E59B-0019-7512B6E72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E9A59-3F40-F444-BD0F-26E6D063A5F0}" type="slidenum">
              <a:rPr lang="en-US" smtClean="0"/>
              <a:pPr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7122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7ACDC5E-EE7C-E72A-E29F-05AD91CB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Parse Errors vs. "Fail Fast" approach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134B299-F442-8954-4FA4-3B3D087AD0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You should not use DFDL parse errors as a 'fail fast' way to reject </a:t>
            </a:r>
            <a:r>
              <a:rPr lang="en-US" i="1" dirty="0"/>
              <a:t>invalid</a:t>
            </a:r>
            <a:r>
              <a:rPr lang="en-US" dirty="0"/>
              <a:t> data. </a:t>
            </a:r>
          </a:p>
          <a:p>
            <a:r>
              <a:rPr lang="en-US" dirty="0"/>
              <a:t>Why? Composition properties: A DFDL parse error doesn't 'fail' the parse, it causes backtracking to other alternatives of the parse. </a:t>
            </a:r>
          </a:p>
          <a:p>
            <a:r>
              <a:rPr lang="en-US" dirty="0"/>
              <a:t>If you didn't write those other parts of the schema (e.g., because your schema is being used as a component in a larger schema) it is unclear what this backtracking will cause, but it is almost certainly not 'failing fast'. </a:t>
            </a:r>
          </a:p>
          <a:p>
            <a:r>
              <a:rPr lang="en-US" dirty="0"/>
              <a:t>Often you will get 'left over data' problems, if the parse succeeds up to the invalid data. </a:t>
            </a:r>
          </a:p>
          <a:p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A0B102-19C2-0E7B-3B81-74BD38797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7A9C04-9BE2-4A9F-A3FE-72B96988022F}" type="slidenum">
              <a:rPr lang="en-US" smtClean="0"/>
              <a:pPr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602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F1D2FF-85A0-65D7-5919-D95765F9F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 </a:t>
            </a:r>
            <a:r>
              <a:rPr lang="en-US" dirty="0" err="1"/>
              <a:t>dfdl:checkConstraints</a:t>
            </a:r>
            <a:endParaRPr lang="en-US" dirty="0" err="1">
              <a:ea typeface="Noto Sans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30D3C1-1219-8812-3628-C0ECFD3B4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87A9C04-9BE2-4A9F-A3FE-72B96988022F}" type="slidenum">
              <a:rPr kumimoji="0" lang="en-US" sz="1200" b="1" i="0" u="none" strike="noStrike" kern="1200" cap="none" spc="0" normalizeH="0" baseline="0" noProof="0" smtClean="0">
                <a:ln>
                  <a:noFill/>
                </a:ln>
                <a:solidFill>
                  <a:srgbClr val="AAE2CA">
                    <a:lumMod val="50000"/>
                  </a:srgbClr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srgbClr val="AAE2CA">
                  <a:lumMod val="50000"/>
                </a:srgbClr>
              </a:solidFill>
              <a:effectLst/>
              <a:uLnTx/>
              <a:uFillTx/>
              <a:latin typeface="Calibri" panose="020F0502020204030204" pitchFamily="34" charset="0"/>
              <a:ea typeface="+mn-ea"/>
            </a:endParaRPr>
          </a:p>
        </p:txBody>
      </p:sp>
      <p:sp>
        <p:nvSpPr>
          <p:cNvPr id="30" name="Content Placeholder 29">
            <a:extLst>
              <a:ext uri="{FF2B5EF4-FFF2-40B4-BE49-F238E27FC236}">
                <a16:creationId xmlns:a16="http://schemas.microsoft.com/office/drawing/2014/main" id="{8E40D3BA-BD36-F70E-105F-42BA82EAD7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9904" y="873457"/>
            <a:ext cx="11605067" cy="5105400"/>
          </a:xfrm>
        </p:spPr>
        <p:txBody>
          <a:bodyPr vert="horz" lIns="91440" tIns="45720" rIns="91440" bIns="45720" rtlCol="0" anchor="t">
            <a:normAutofit fontScale="62500" lnSpcReduction="20000"/>
          </a:bodyPr>
          <a:lstStyle/>
          <a:p>
            <a:r>
              <a:rPr lang="en-US" sz="2400" dirty="0">
                <a:solidFill>
                  <a:srgbClr val="080808"/>
                </a:solidFill>
                <a:ea typeface="+mj-lt"/>
                <a:cs typeface="+mj-lt"/>
              </a:rPr>
              <a:t>Look at simple type "</a:t>
            </a:r>
            <a:r>
              <a:rPr lang="en-US" sz="2400" dirty="0" err="1">
                <a:solidFill>
                  <a:srgbClr val="080808"/>
                </a:solidFill>
                <a:ea typeface="+mj-lt"/>
                <a:cs typeface="+mj-lt"/>
              </a:rPr>
              <a:t>longitude_degrees</a:t>
            </a:r>
            <a:r>
              <a:rPr lang="en-US" sz="2400" dirty="0">
                <a:solidFill>
                  <a:srgbClr val="080808"/>
                </a:solidFill>
                <a:ea typeface="+mj-lt"/>
                <a:cs typeface="+mj-lt"/>
              </a:rPr>
              <a:t>" below.</a:t>
            </a:r>
          </a:p>
          <a:p>
            <a:r>
              <a:rPr lang="en-US" sz="2400" dirty="0">
                <a:solidFill>
                  <a:srgbClr val="080808"/>
                </a:solidFill>
                <a:ea typeface="+mj-lt"/>
                <a:cs typeface="+mj-lt"/>
              </a:rPr>
              <a:t>Forcing parsing to only succeed on valid data (-180 to 180) turns out to be a mistake.</a:t>
            </a:r>
          </a:p>
          <a:p>
            <a:pPr marL="0" indent="0">
              <a:buNone/>
            </a:pPr>
            <a:endParaRPr lang="en-US" sz="2400" dirty="0">
              <a:solidFill>
                <a:srgbClr val="080808"/>
              </a:solidFill>
              <a:ea typeface="+mj-lt"/>
              <a:cs typeface="+mj-lt"/>
            </a:endParaRPr>
          </a:p>
          <a:p>
            <a:pPr marL="0" indent="0">
              <a:buNone/>
            </a:pP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&lt;</a:t>
            </a:r>
            <a:r>
              <a:rPr lang="en-US" sz="2400" b="1" dirty="0" err="1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simpleType</a:t>
            </a:r>
            <a:r>
              <a:rPr lang="en-US" sz="2400" b="1" dirty="0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121314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name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="</a:t>
            </a:r>
            <a:r>
              <a:rPr lang="en-US" sz="2400" b="1" dirty="0" err="1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longitude_degrees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"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           </a:t>
            </a:r>
            <a:r>
              <a:rPr lang="en-US" sz="2400" b="1" dirty="0" err="1">
                <a:solidFill>
                  <a:srgbClr val="004B9F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dfdl</a:t>
            </a:r>
            <a:r>
              <a:rPr lang="en-US" sz="2400" b="1" dirty="0" err="1">
                <a:solidFill>
                  <a:srgbClr val="121314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:binaryFloatRep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="</a:t>
            </a:r>
            <a:r>
              <a:rPr lang="en-US" sz="2400" b="1" dirty="0" err="1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ieee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"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           </a:t>
            </a:r>
            <a:r>
              <a:rPr lang="en-US" sz="2400" b="1" dirty="0" err="1">
                <a:solidFill>
                  <a:srgbClr val="004B9F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dfdl</a:t>
            </a:r>
            <a:r>
              <a:rPr lang="en-US" sz="2400" b="1" dirty="0" err="1">
                <a:solidFill>
                  <a:srgbClr val="121314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:lengthKind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="implicit"</a:t>
            </a: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&lt;annotation&gt;&lt;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appinfo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source="http://www.ogf.org/dfdl"&gt;</a:t>
            </a:r>
          </a:p>
          <a:p>
            <a:pPr marL="0" indent="0">
              <a:buNone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&lt;!-- </a:t>
            </a:r>
          </a:p>
          <a:p>
            <a:pPr marL="0" indent="0">
              <a:buNone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bad idea. Don't do this to check valid values of numbers.</a:t>
            </a:r>
          </a:p>
          <a:p>
            <a:pPr marL="0" indent="0">
              <a:buNone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These numbers are well formed even if out of range.</a:t>
            </a:r>
          </a:p>
          <a:p>
            <a:pPr marL="0" indent="0">
              <a:buNone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   Turn on Daffodil's validation, or use a separate </a:t>
            </a:r>
            <a:r>
              <a:rPr kumimoji="0" lang="en-US" altLang="en-US" sz="2400" b="1" i="1" u="none" strike="noStrike" cap="none" normalizeH="0" baseline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validator process. </a:t>
            </a:r>
            <a:endParaRPr kumimoji="0" lang="en-US" altLang="en-US" sz="2400" b="1" i="1" u="none" strike="noStrike" cap="none" normalizeH="0" baseline="0" dirty="0">
              <a:ln>
                <a:noFill/>
              </a:ln>
              <a:solidFill>
                <a:srgbClr val="8C8C8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--&gt;</a:t>
            </a:r>
            <a:b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04B9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dfdl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042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:assert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&gt;{ 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8080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dfdl:checkConstraints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(.) }&lt;/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04B9F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dfdl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rgbClr val="0042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:assert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rgbClr val="080808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en-US" altLang="en-US" sz="2400" b="1" i="1" u="none" strike="noStrike" cap="none" normalizeH="0" baseline="0" dirty="0">
                <a:ln>
                  <a:noFill/>
                </a:ln>
                <a:solidFill>
                  <a:srgbClr val="8C8C8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&lt;/</a:t>
            </a:r>
            <a:r>
              <a:rPr kumimoji="0" lang="en-US" altLang="en-US" sz="2400" b="1" i="0" u="none" strike="noStrike" cap="none" normalizeH="0" baseline="0" dirty="0" err="1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appinfo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&gt;&lt;/annotation&gt;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 &lt;</a:t>
            </a:r>
            <a:r>
              <a:rPr lang="en-US" sz="2400" b="1" dirty="0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restriction </a:t>
            </a:r>
            <a:r>
              <a:rPr lang="en-US" sz="2400" b="1" dirty="0">
                <a:solidFill>
                  <a:srgbClr val="121314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base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="</a:t>
            </a:r>
            <a:r>
              <a:rPr lang="en-US" sz="2400" b="1" dirty="0" err="1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xs:float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"</a:t>
            </a: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&gt;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   &lt;</a:t>
            </a:r>
            <a:r>
              <a:rPr lang="en-US" sz="2400" b="1" dirty="0" err="1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minInclusive</a:t>
            </a:r>
            <a:r>
              <a:rPr lang="en-US" sz="2400" b="1" dirty="0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121314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value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="-180.0"</a:t>
            </a: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/&gt;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   &lt;</a:t>
            </a:r>
            <a:r>
              <a:rPr lang="en-US" sz="2400" b="1" dirty="0" err="1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maxInclusive</a:t>
            </a:r>
            <a:r>
              <a:rPr lang="en-US" sz="2400" b="1" dirty="0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</a:t>
            </a:r>
            <a:r>
              <a:rPr lang="en-US" sz="2400" b="1" dirty="0">
                <a:solidFill>
                  <a:srgbClr val="121314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value</a:t>
            </a:r>
            <a:r>
              <a:rPr lang="en-US" sz="2400" b="1" dirty="0">
                <a:solidFill>
                  <a:srgbClr val="6A84DB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="180.0"</a:t>
            </a: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/&gt;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  &lt;/</a:t>
            </a:r>
            <a:r>
              <a:rPr lang="en-US" sz="2400" b="1" dirty="0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restriction</a:t>
            </a: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&gt;</a:t>
            </a:r>
            <a:br>
              <a:rPr lang="en-US" sz="2400" b="1" dirty="0"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</a:b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&lt;/</a:t>
            </a:r>
            <a:r>
              <a:rPr lang="en-US" sz="2400" b="1" dirty="0" err="1">
                <a:solidFill>
                  <a:srgbClr val="00428C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simpleType</a:t>
            </a:r>
            <a:r>
              <a:rPr lang="en-US" sz="2400" b="1" dirty="0">
                <a:solidFill>
                  <a:srgbClr val="080808"/>
                </a:solidFill>
                <a:latin typeface="Courier New" panose="02070309020205020404" pitchFamily="49" charset="0"/>
                <a:ea typeface="+mj-lt"/>
                <a:cs typeface="Courier New" panose="02070309020205020404" pitchFamily="49" charset="0"/>
              </a:rPr>
              <a:t>&gt;</a:t>
            </a:r>
            <a:endParaRPr lang="en-US" sz="2400" b="1" dirty="0">
              <a:latin typeface="Courier New" panose="02070309020205020404" pitchFamily="49" charset="0"/>
              <a:ea typeface="Noto Sans"/>
              <a:cs typeface="Courier New" panose="02070309020205020404" pitchFamily="49" charset="0"/>
            </a:endParaRPr>
          </a:p>
          <a:p>
            <a:pPr marL="456565" indent="-456565"/>
            <a:endParaRPr lang="en-US" sz="3700" dirty="0">
              <a:ea typeface="Noto Sans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DB92E22-75EF-6871-5D72-2EF9D49F3D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</a:endParaRP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F67947E2-B017-27C6-58A6-F4EC139E7C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3934"/>
            <a:ext cx="184731" cy="3693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 pitchFamily="34" charset="0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198765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804A6-AB63-1F9B-CE4A-F9F83244F2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5AA447A6-237F-3814-2CB7-68C56BEC7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Avoid using </a:t>
            </a:r>
            <a:r>
              <a:rPr lang="en-US" dirty="0" err="1"/>
              <a:t>dfdl:checkConstraints</a:t>
            </a:r>
            <a:r>
              <a:rPr lang="en-US" dirty="0"/>
              <a:t>()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D5BCDCD-F7F4-D8A7-86B2-EF9BE18519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you are just validating the data, turn on Daffodil validation, and test for validation errors at end of parse. </a:t>
            </a:r>
          </a:p>
          <a:p>
            <a:pPr lvl="1"/>
            <a:r>
              <a:rPr lang="en-US" dirty="0"/>
              <a:t>validation 'limited' (or 'daffodil', meaning built-in) is done efficiently by Daffodil as it traverses the data</a:t>
            </a:r>
          </a:p>
          <a:p>
            <a:pPr lvl="1"/>
            <a:r>
              <a:rPr lang="en-US" dirty="0"/>
              <a:t>validation 'full' (or 'xerces') outputs XML and calls Xerces to validate it. This is less efficient.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3CFA8-490A-8C4D-80B8-B2A103710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E9A59-3F40-F444-BD0F-26E6D063A5F0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8763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032913-2122-80C7-2B6E-3AC8E7373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DF8F26B-F91B-0A6A-830D-B75F21FA97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Unparsing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3BAB17-B581-E6D0-BD3C-619233E5D3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In </a:t>
            </a:r>
            <a:r>
              <a:rPr lang="en-US" dirty="0" err="1"/>
              <a:t>dfdl:outputValueCalc</a:t>
            </a:r>
            <a:r>
              <a:rPr lang="en-US" dirty="0"/>
              <a:t> expressions, accept any value that is well-formed, not only valid values. 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Allows generation of invalid data for testing</a:t>
            </a:r>
          </a:p>
          <a:p>
            <a:pPr lvl="1"/>
            <a:r>
              <a:rPr lang="en-US" dirty="0"/>
              <a:t>Symmetry with parsing - what the parser can create, the unparser should be able to serialize back</a:t>
            </a:r>
          </a:p>
          <a:p>
            <a:pPr lvl="1"/>
            <a:endParaRPr lang="en-US" dirty="0"/>
          </a:p>
          <a:p>
            <a:r>
              <a:rPr lang="en-US" dirty="0"/>
              <a:t>Exception: Reject Elements</a:t>
            </a:r>
          </a:p>
          <a:p>
            <a:pPr lvl="1"/>
            <a:r>
              <a:rPr lang="en-US" dirty="0"/>
              <a:t>Schemas can be designed to tolerate bad data and create reject elements</a:t>
            </a:r>
          </a:p>
          <a:p>
            <a:pPr lvl="2"/>
            <a:r>
              <a:rPr lang="en-US" dirty="0"/>
              <a:t>Especially for large file formats where failing to parse the whole file on one bad data item may be undesirable.</a:t>
            </a:r>
          </a:p>
          <a:p>
            <a:pPr lvl="1"/>
            <a:r>
              <a:rPr lang="en-US" dirty="0"/>
              <a:t>Reject elements should be designed to always be invalid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9DBAA4-2F42-789A-2E47-AB3E1C30EC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6E9A59-3F40-F444-BD0F-26E6D063A5F0}" type="slidenum">
              <a:rPr lang="en-US" smtClean="0"/>
              <a:pPr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0147246"/>
      </p:ext>
    </p:extLst>
  </p:cSld>
  <p:clrMapOvr>
    <a:masterClrMapping/>
  </p:clrMapOvr>
</p:sld>
</file>

<file path=ppt/theme/theme1.xml><?xml version="1.0" encoding="utf-8"?>
<a:theme xmlns:a="http://schemas.openxmlformats.org/drawingml/2006/main" name="Owl Tresys">
  <a:themeElements>
    <a:clrScheme name="Custom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000000"/>
      </a:hlink>
      <a:folHlink>
        <a:srgbClr val="0070C0"/>
      </a:folHlink>
    </a:clrScheme>
    <a:fontScheme name="Noto">
      <a:majorFont>
        <a:latin typeface="Noto Sans"/>
        <a:ea typeface=""/>
        <a:cs typeface=""/>
      </a:majorFont>
      <a:minorFont>
        <a:latin typeface="Noto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SF-Daffodil-Powerpoint-Template.potx" id="{1B7B6B17-DD1C-4004-B1C8-A6B0E304C607}" vid="{E90DA38C-6206-4BBE-99F8-A6461D89AEB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43770EEE52CD41AF88844CFD8CFC1F" ma:contentTypeVersion="19" ma:contentTypeDescription="Create a new document." ma:contentTypeScope="" ma:versionID="087aef2dacdf576614e125d015e2f287">
  <xsd:schema xmlns:xsd="http://www.w3.org/2001/XMLSchema" xmlns:xs="http://www.w3.org/2001/XMLSchema" xmlns:p="http://schemas.microsoft.com/office/2006/metadata/properties" xmlns:ns2="213a615a-fc15-48a4-b44f-57f78f25f7bf" xmlns:ns3="7ec4416c-5e17-4e82-a7de-d59c1ce11d89" targetNamespace="http://schemas.microsoft.com/office/2006/metadata/properties" ma:root="true" ma:fieldsID="aeb5c1f92c1e7d75cf293137a4dd3c28" ns2:_="" ns3:_="">
    <xsd:import namespace="213a615a-fc15-48a4-b44f-57f78f25f7bf"/>
    <xsd:import namespace="7ec4416c-5e17-4e82-a7de-d59c1ce11d8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13a615a-fc15-48a4-b44f-57f78f25f7b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ec4416c-5e17-4e82-a7de-d59c1ce11d89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 ma:readOnly="tru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6448888-D94F-46D3-B5EF-CF8AC221F7D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13a615a-fc15-48a4-b44f-57f78f25f7bf"/>
    <ds:schemaRef ds:uri="7ec4416c-5e17-4e82-a7de-d59c1ce11d8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8E6E0BF-F4A0-41B6-8685-63FD81E4D1BE}">
  <ds:schemaRefs>
    <ds:schemaRef ds:uri="213a615a-fc15-48a4-b44f-57f78f25f7bf"/>
    <ds:schemaRef ds:uri="http://schemas.microsoft.com/office/2006/metadata/properties"/>
    <ds:schemaRef ds:uri="http://purl.org/dc/dcmitype/"/>
    <ds:schemaRef ds:uri="http://purl.org/dc/terms/"/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7ec4416c-5e17-4e82-a7de-d59c1ce11d89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18870CC1-235C-4BD8-A628-EDFC5A270D0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ASF-Daffodil-Powerpoint-Template</Template>
  <TotalTime>45</TotalTime>
  <Words>906</Words>
  <Application>Microsoft Office PowerPoint</Application>
  <PresentationFormat>Widescreen</PresentationFormat>
  <Paragraphs>102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Courier New</vt:lpstr>
      <vt:lpstr>Calibri</vt:lpstr>
      <vt:lpstr>Arial</vt:lpstr>
      <vt:lpstr>Wingdings</vt:lpstr>
      <vt:lpstr>Calibri Light</vt:lpstr>
      <vt:lpstr>Noto Sans</vt:lpstr>
      <vt:lpstr>Owl Tresys</vt:lpstr>
      <vt:lpstr>Well-Formed vs Valid</vt:lpstr>
      <vt:lpstr>Well-Formed vs Valid</vt:lpstr>
      <vt:lpstr>Well-Formed vs. Valid </vt:lpstr>
      <vt:lpstr>Avoid using dfdl:checkConstraints()</vt:lpstr>
      <vt:lpstr>Parse Errors vs. "Fail Fast" approach</vt:lpstr>
      <vt:lpstr>Avoid dfdl:checkConstraints</vt:lpstr>
      <vt:lpstr>Avoid using dfdl:checkConstraints()</vt:lpstr>
      <vt:lpstr>Unparsing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Beckerle, Mike</dc:creator>
  <cp:lastModifiedBy>Beckerle, Mike</cp:lastModifiedBy>
  <cp:revision>1</cp:revision>
  <dcterms:created xsi:type="dcterms:W3CDTF">2025-12-22T17:53:24Z</dcterms:created>
  <dcterms:modified xsi:type="dcterms:W3CDTF">2025-12-24T19:32:16Z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0x010100AA43770EEE52CD41AF88844CFD8CFC1F</vt:lpwstr>
  </property>
  <property fmtid="{D5CDD505-2E9C-101B-9397-08002B2CF9AE}" pid="3" name="_ColorHex">
    <vt:lpwstr/>
  </property>
  <property fmtid="{D5CDD505-2E9C-101B-9397-08002B2CF9AE}" pid="4" name="_Emoji">
    <vt:lpwstr/>
  </property>
  <property fmtid="{D5CDD505-2E9C-101B-9397-08002B2CF9AE}" pid="5" name="ComplianceAssetId">
    <vt:lpwstr/>
  </property>
  <property fmtid="{D5CDD505-2E9C-101B-9397-08002B2CF9AE}" pid="6" name="_ColorTag">
    <vt:lpwstr/>
  </property>
  <property fmtid="{D5CDD505-2E9C-101B-9397-08002B2CF9AE}" pid="7" name="_activity">
    <vt:lpwstr>{"FileActivityType":"9","FileActivityTimeStamp":"2023-03-15T22:05:42.377Z","FileActivityUsersOnPage":[{"DisplayName":"Beckerle, Mike","Id":"mbeckerle@owlcyberdefense.com"}],"FileActivityNavigationId":null}</vt:lpwstr>
  </property>
  <property fmtid="{D5CDD505-2E9C-101B-9397-08002B2CF9AE}" pid="8" name="xd_ProgID">
    <vt:lpwstr/>
  </property>
  <property fmtid="{D5CDD505-2E9C-101B-9397-08002B2CF9AE}" pid="9" name="TemplateUrl">
    <vt:lpwstr/>
  </property>
  <property fmtid="{D5CDD505-2E9C-101B-9397-08002B2CF9AE}" pid="10" name="_ExtendedDescription">
    <vt:lpwstr/>
  </property>
  <property fmtid="{D5CDD505-2E9C-101B-9397-08002B2CF9AE}" pid="11" name="TriggerFlowInfo">
    <vt:lpwstr/>
  </property>
  <property fmtid="{D5CDD505-2E9C-101B-9397-08002B2CF9AE}" pid="12" name="GUID">
    <vt:lpwstr>9168c58c-4a65-49c7-bfad-dc0317203383</vt:lpwstr>
  </property>
  <property fmtid="{D5CDD505-2E9C-101B-9397-08002B2CF9AE}" pid="13" name="xd_Signature">
    <vt:bool>false</vt:bool>
  </property>
</Properties>
</file>
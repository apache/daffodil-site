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836" r:id="rId5"/>
    <p:sldId id="829" r:id="rId6"/>
    <p:sldId id="839" r:id="rId7"/>
    <p:sldId id="799" r:id="rId8"/>
    <p:sldId id="837" r:id="rId9"/>
    <p:sldId id="838" r:id="rId10"/>
  </p:sldIdLst>
  <p:sldSz cx="12192000" cy="6858000"/>
  <p:notesSz cx="6858000" cy="9144000"/>
  <p:embeddedFontLst>
    <p:embeddedFont>
      <p:font typeface="Noto Sans" panose="020B050204050402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C2F4EE-7FCF-4CA9-8540-87655A8863A7}" v="1" dt="2025-12-22T21:24:56.6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2597" autoAdjust="0"/>
  </p:normalViewPr>
  <p:slideViewPr>
    <p:cSldViewPr snapToGrid="0" snapToObjects="1">
      <p:cViewPr varScale="1">
        <p:scale>
          <a:sx n="101" d="100"/>
          <a:sy n="101" d="100"/>
        </p:scale>
        <p:origin x="99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ckerle, Mike" userId="41155a9a-513c-4288-9ceb-5c90f574ab21" providerId="ADAL" clId="{93EA92E5-423E-4026-A29C-DC3240D7B59D}"/>
    <pc:docChg chg="custSel addSld modSld">
      <pc:chgData name="Beckerle, Mike" userId="41155a9a-513c-4288-9ceb-5c90f574ab21" providerId="ADAL" clId="{93EA92E5-423E-4026-A29C-DC3240D7B59D}" dt="2025-12-22T21:27:29.186" v="1188" actId="20577"/>
      <pc:docMkLst>
        <pc:docMk/>
      </pc:docMkLst>
      <pc:sldChg chg="modSp mod">
        <pc:chgData name="Beckerle, Mike" userId="41155a9a-513c-4288-9ceb-5c90f574ab21" providerId="ADAL" clId="{93EA92E5-423E-4026-A29C-DC3240D7B59D}" dt="2025-12-22T21:27:29.186" v="1188" actId="20577"/>
        <pc:sldMkLst>
          <pc:docMk/>
          <pc:sldMk cId="1819876571" sldId="799"/>
        </pc:sldMkLst>
        <pc:spChg chg="mod">
          <ac:chgData name="Beckerle, Mike" userId="41155a9a-513c-4288-9ceb-5c90f574ab21" providerId="ADAL" clId="{93EA92E5-423E-4026-A29C-DC3240D7B59D}" dt="2025-12-22T21:27:29.186" v="1188" actId="20577"/>
          <ac:spMkLst>
            <pc:docMk/>
            <pc:sldMk cId="1819876571" sldId="799"/>
            <ac:spMk id="30" creationId="{8E40D3BA-BD36-F70E-105F-42BA82EAD7FD}"/>
          </ac:spMkLst>
        </pc:spChg>
      </pc:sldChg>
      <pc:sldChg chg="mod modShow">
        <pc:chgData name="Beckerle, Mike" userId="41155a9a-513c-4288-9ceb-5c90f574ab21" providerId="ADAL" clId="{93EA92E5-423E-4026-A29C-DC3240D7B59D}" dt="2025-12-22T21:11:52.016" v="0" actId="729"/>
        <pc:sldMkLst>
          <pc:docMk/>
          <pc:sldMk cId="1947122302" sldId="829"/>
        </pc:sldMkLst>
      </pc:sldChg>
      <pc:sldChg chg="modSp mod modShow">
        <pc:chgData name="Beckerle, Mike" userId="41155a9a-513c-4288-9ceb-5c90f574ab21" providerId="ADAL" clId="{93EA92E5-423E-4026-A29C-DC3240D7B59D}" dt="2025-12-22T21:24:36.019" v="886" actId="27636"/>
        <pc:sldMkLst>
          <pc:docMk/>
          <pc:sldMk cId="3059590" sldId="836"/>
        </pc:sldMkLst>
        <pc:spChg chg="mod">
          <ac:chgData name="Beckerle, Mike" userId="41155a9a-513c-4288-9ceb-5c90f574ab21" providerId="ADAL" clId="{93EA92E5-423E-4026-A29C-DC3240D7B59D}" dt="2025-12-22T21:24:36.019" v="886" actId="27636"/>
          <ac:spMkLst>
            <pc:docMk/>
            <pc:sldMk cId="3059590" sldId="836"/>
            <ac:spMk id="6" creationId="{22713275-1AB9-0C4B-9EC2-1B647F73D168}"/>
          </ac:spMkLst>
        </pc:spChg>
      </pc:sldChg>
      <pc:sldChg chg="mod modShow">
        <pc:chgData name="Beckerle, Mike" userId="41155a9a-513c-4288-9ceb-5c90f574ab21" providerId="ADAL" clId="{93EA92E5-423E-4026-A29C-DC3240D7B59D}" dt="2025-12-22T21:11:52.016" v="0" actId="729"/>
        <pc:sldMkLst>
          <pc:docMk/>
          <pc:sldMk cId="1518763213" sldId="837"/>
        </pc:sldMkLst>
      </pc:sldChg>
      <pc:sldChg chg="mod modShow">
        <pc:chgData name="Beckerle, Mike" userId="41155a9a-513c-4288-9ceb-5c90f574ab21" providerId="ADAL" clId="{93EA92E5-423E-4026-A29C-DC3240D7B59D}" dt="2025-12-22T21:11:52.016" v="0" actId="729"/>
        <pc:sldMkLst>
          <pc:docMk/>
          <pc:sldMk cId="820147246" sldId="838"/>
        </pc:sldMkLst>
      </pc:sldChg>
      <pc:sldChg chg="addSp delSp modSp new mod modClrScheme chgLayout">
        <pc:chgData name="Beckerle, Mike" userId="41155a9a-513c-4288-9ceb-5c90f574ab21" providerId="ADAL" clId="{93EA92E5-423E-4026-A29C-DC3240D7B59D}" dt="2025-12-22T21:25:36.366" v="950" actId="27636"/>
        <pc:sldMkLst>
          <pc:docMk/>
          <pc:sldMk cId="1543602815" sldId="839"/>
        </pc:sldMkLst>
        <pc:spChg chg="del mod ord">
          <ac:chgData name="Beckerle, Mike" userId="41155a9a-513c-4288-9ceb-5c90f574ab21" providerId="ADAL" clId="{93EA92E5-423E-4026-A29C-DC3240D7B59D}" dt="2025-12-22T21:24:54.249" v="888" actId="700"/>
          <ac:spMkLst>
            <pc:docMk/>
            <pc:sldMk cId="1543602815" sldId="839"/>
            <ac:spMk id="2" creationId="{98D653B6-D825-5EC4-5785-680C445CBE5C}"/>
          </ac:spMkLst>
        </pc:spChg>
        <pc:spChg chg="mod ord">
          <ac:chgData name="Beckerle, Mike" userId="41155a9a-513c-4288-9ceb-5c90f574ab21" providerId="ADAL" clId="{93EA92E5-423E-4026-A29C-DC3240D7B59D}" dt="2025-12-22T21:24:54.249" v="888" actId="700"/>
          <ac:spMkLst>
            <pc:docMk/>
            <pc:sldMk cId="1543602815" sldId="839"/>
            <ac:spMk id="3" creationId="{D9A0B102-19C2-0E7B-3B81-74BD38797197}"/>
          </ac:spMkLst>
        </pc:spChg>
        <pc:spChg chg="add mod ord">
          <ac:chgData name="Beckerle, Mike" userId="41155a9a-513c-4288-9ceb-5c90f574ab21" providerId="ADAL" clId="{93EA92E5-423E-4026-A29C-DC3240D7B59D}" dt="2025-12-22T21:25:28.425" v="948" actId="20577"/>
          <ac:spMkLst>
            <pc:docMk/>
            <pc:sldMk cId="1543602815" sldId="839"/>
            <ac:spMk id="4" creationId="{67ACDC5E-EE7C-E72A-E29F-05AD91CB3A92}"/>
          </ac:spMkLst>
        </pc:spChg>
        <pc:spChg chg="add mod ord">
          <ac:chgData name="Beckerle, Mike" userId="41155a9a-513c-4288-9ceb-5c90f574ab21" providerId="ADAL" clId="{93EA92E5-423E-4026-A29C-DC3240D7B59D}" dt="2025-12-22T21:25:36.366" v="950" actId="27636"/>
          <ac:spMkLst>
            <pc:docMk/>
            <pc:sldMk cId="1543602815" sldId="839"/>
            <ac:spMk id="5" creationId="{C134B299-F442-8954-4FA4-3B3D087AD03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12/22/2025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5484" y="125004"/>
            <a:ext cx="9654540" cy="6805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5482" y="1007950"/>
            <a:ext cx="11465923" cy="5135834"/>
          </a:xfrm>
        </p:spPr>
        <p:txBody>
          <a:bodyPr/>
          <a:lstStyle>
            <a:lvl1pPr marL="457189" indent="-457189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n-lt"/>
              </a:defRPr>
            </a:lvl1pPr>
            <a:lvl2pPr marL="990575" indent="-38099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</a:defRPr>
            </a:lvl2pPr>
            <a:lvl3pPr marL="1523962" indent="-304792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0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pache.org/licenses/LICENSE-2.0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6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4F69-4611-74D9-2369-28842BA7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B2117D-CBAC-6453-A059-71DA5804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Well-Formed vs. Valid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713275-1AB9-0C4B-9EC2-1B647F73D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Well-Formed</a:t>
            </a:r>
          </a:p>
          <a:p>
            <a:pPr lvl="1"/>
            <a:r>
              <a:rPr lang="en-US" dirty="0"/>
              <a:t>can determine start position and length</a:t>
            </a:r>
          </a:p>
          <a:p>
            <a:pPr lvl="1"/>
            <a:r>
              <a:rPr lang="en-US" dirty="0"/>
              <a:t>bits are convertible to the expected simple type</a:t>
            </a:r>
          </a:p>
          <a:p>
            <a:r>
              <a:rPr lang="en-US" dirty="0"/>
              <a:t>Valid</a:t>
            </a:r>
          </a:p>
          <a:p>
            <a:pPr lvl="1"/>
            <a:r>
              <a:rPr lang="en-US" dirty="0"/>
              <a:t>Schema Valid - data obeys facets and max/min occurs </a:t>
            </a:r>
          </a:p>
          <a:p>
            <a:pPr lvl="1"/>
            <a:r>
              <a:rPr lang="en-US" dirty="0" err="1"/>
              <a:t>Schematron</a:t>
            </a:r>
            <a:r>
              <a:rPr lang="en-US" dirty="0"/>
              <a:t> Valid - data obeys additional rules</a:t>
            </a:r>
          </a:p>
          <a:p>
            <a:r>
              <a:rPr lang="en-US" dirty="0"/>
              <a:t>Parsing should accept well-formed data</a:t>
            </a:r>
          </a:p>
          <a:p>
            <a:r>
              <a:rPr lang="en-US" dirty="0"/>
              <a:t>Parsing should </a:t>
            </a:r>
            <a:r>
              <a:rPr lang="en-US" i="1" dirty="0"/>
              <a:t>not</a:t>
            </a:r>
            <a:r>
              <a:rPr lang="en-US" dirty="0"/>
              <a:t> reject invalid data</a:t>
            </a:r>
          </a:p>
          <a:p>
            <a:pPr lvl="1"/>
            <a:r>
              <a:rPr lang="en-US" dirty="0"/>
              <a:t>Why? - Forensics: so you can look at the invalid data!</a:t>
            </a:r>
          </a:p>
          <a:p>
            <a:pPr lvl="2"/>
            <a:r>
              <a:rPr lang="en-US" dirty="0"/>
              <a:t>Without this you can't even see the data - you can't parse it into memory</a:t>
            </a:r>
          </a:p>
          <a:p>
            <a:pPr lvl="1"/>
            <a:r>
              <a:rPr lang="en-US" dirty="0"/>
              <a:t>Second why: Composition properties</a:t>
            </a:r>
          </a:p>
          <a:p>
            <a:pPr lvl="2"/>
            <a:r>
              <a:rPr lang="en-US" dirty="0"/>
              <a:t>DFDL assumes a backtracking parser. </a:t>
            </a:r>
          </a:p>
          <a:p>
            <a:pPr lvl="2"/>
            <a:r>
              <a:rPr lang="en-US" dirty="0"/>
              <a:t>Use of </a:t>
            </a:r>
            <a:r>
              <a:rPr lang="en-US" dirty="0" err="1"/>
              <a:t>dfdl:checkConstraints</a:t>
            </a:r>
            <a:r>
              <a:rPr lang="en-US" dirty="0"/>
              <a:t>(.) function will cause backtracking to try other alternatives when data is well-formed (just invalid)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A4708-B808-5A8B-222A-3E1C7152B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3DCFF-A2CC-DFE9-9D68-DBFCFFBE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EB7C67-F0CF-2431-BBDE-A752CB238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using </a:t>
            </a:r>
            <a:r>
              <a:rPr lang="en-US" dirty="0" err="1"/>
              <a:t>dfdl:checkConstraints</a:t>
            </a:r>
            <a:r>
              <a:rPr lang="en-US" dirty="0"/>
              <a:t>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75D1F9-5623-6630-14A2-F65359563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dfdl:checkConstraints</a:t>
            </a:r>
            <a:r>
              <a:rPr lang="en-US" dirty="0"/>
              <a:t>(.) escalates XSD facet check failures into DFDL parse errors</a:t>
            </a:r>
          </a:p>
          <a:p>
            <a:endParaRPr lang="en-US" dirty="0"/>
          </a:p>
          <a:p>
            <a:r>
              <a:rPr lang="en-US" dirty="0"/>
              <a:t>Proper uses: To check facets that are associated with well-formed data. </a:t>
            </a:r>
          </a:p>
          <a:p>
            <a:r>
              <a:rPr lang="en-US" dirty="0"/>
              <a:t>Example 1: data has 3 kinds of records encoded by a single-character code which must be A, F, or Q. </a:t>
            </a:r>
          </a:p>
          <a:p>
            <a:pPr lvl="1"/>
            <a:r>
              <a:rPr lang="en-US" dirty="0"/>
              <a:t>If the code is not one of those, it's an error and you can't parse the data</a:t>
            </a:r>
          </a:p>
          <a:p>
            <a:pPr lvl="1"/>
            <a:r>
              <a:rPr lang="en-US" dirty="0"/>
              <a:t>Express this as XSD enumeration facets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dfdl:checkConstraints</a:t>
            </a:r>
            <a:r>
              <a:rPr lang="en-US" dirty="0"/>
              <a:t>(.) so the parse fails if the A, F, or Q are not found. </a:t>
            </a:r>
          </a:p>
          <a:p>
            <a:r>
              <a:rPr lang="en-US" dirty="0"/>
              <a:t>Example 2: data has a length or count (array number of items) field which is 32 bits, but the maximum value is 9999. Longer lengths or larger counts cannot be represented. </a:t>
            </a:r>
          </a:p>
          <a:p>
            <a:pPr lvl="1"/>
            <a:r>
              <a:rPr lang="en-US" dirty="0"/>
              <a:t>Express this as a </a:t>
            </a:r>
            <a:r>
              <a:rPr lang="en-US" dirty="0" err="1"/>
              <a:t>maxInclusive</a:t>
            </a:r>
            <a:r>
              <a:rPr lang="en-US" dirty="0"/>
              <a:t> facet on an unsigned int type.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dfdl:checkConstraints</a:t>
            </a:r>
            <a:r>
              <a:rPr lang="en-US" dirty="0"/>
              <a:t>(.) to ensure the length/count is not excessive.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CF3A9-469F-E59B-0019-7512B6E72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12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ACDC5E-EE7C-E72A-E29F-05AD91CB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Errors vs. "Fail Fast" approach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34B299-F442-8954-4FA4-3B3D087AD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You should not use DFDL parse errors as a 'fail fast' way to reject invalid data. </a:t>
            </a:r>
          </a:p>
          <a:p>
            <a:r>
              <a:rPr lang="en-US" dirty="0"/>
              <a:t>Why? Composition properties: A DFDL parse error doesn't 'fail' the parse, it causes backtracking to other alternatives of the parse. </a:t>
            </a:r>
          </a:p>
          <a:p>
            <a:r>
              <a:rPr lang="en-US" dirty="0"/>
              <a:t>If you didn't write those other parts of the schema (e.g., because your schema is being used as a component in a larger schema) it is unclear what this backtracking will cause, but it is almost certainly not 'failing fast'. </a:t>
            </a:r>
          </a:p>
          <a:p>
            <a:r>
              <a:rPr lang="en-US" dirty="0"/>
              <a:t>Often you will get 'left over data' problems, if the parse succeeds up to the invalid data. 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A0B102-19C2-0E7B-3B81-74BD3879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A9C04-9BE2-4A9F-A3FE-72B96988022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60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F1D2FF-85A0-65D7-5919-D95765F9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 </a:t>
            </a:r>
            <a:r>
              <a:rPr lang="en-US" dirty="0" err="1"/>
              <a:t>dfdl:checkConstraints</a:t>
            </a:r>
            <a:endParaRPr lang="en-US" dirty="0" err="1">
              <a:ea typeface="Noto Sa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0D3C1-1219-8812-3628-C0ECFD3B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A9C04-9BE2-4A9F-A3FE-72B96988022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AAE2CA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AAE2CA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</a:endParaRP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8E40D3BA-BD36-F70E-105F-42BA82EAD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904" y="873457"/>
            <a:ext cx="11605067" cy="5105400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sz="2400" dirty="0">
                <a:solidFill>
                  <a:srgbClr val="080808"/>
                </a:solidFill>
                <a:ea typeface="+mj-lt"/>
                <a:cs typeface="+mj-lt"/>
              </a:rPr>
              <a:t>Look at simple type "</a:t>
            </a:r>
            <a:r>
              <a:rPr lang="en-US" sz="2400" dirty="0" err="1">
                <a:solidFill>
                  <a:srgbClr val="080808"/>
                </a:solidFill>
                <a:ea typeface="+mj-lt"/>
                <a:cs typeface="+mj-lt"/>
              </a:rPr>
              <a:t>longitude_degrees</a:t>
            </a:r>
            <a:r>
              <a:rPr lang="en-US" sz="2400" dirty="0">
                <a:solidFill>
                  <a:srgbClr val="080808"/>
                </a:solidFill>
                <a:ea typeface="+mj-lt"/>
                <a:cs typeface="+mj-lt"/>
              </a:rPr>
              <a:t>" below.</a:t>
            </a:r>
          </a:p>
          <a:p>
            <a:r>
              <a:rPr lang="en-US" sz="2400" dirty="0">
                <a:solidFill>
                  <a:srgbClr val="080808"/>
                </a:solidFill>
                <a:ea typeface="+mj-lt"/>
                <a:cs typeface="+mj-lt"/>
              </a:rPr>
              <a:t>Forcing parsing to only succeed on valid data (-180 to 180) turns out to be a mistake.</a:t>
            </a:r>
          </a:p>
          <a:p>
            <a:pPr marL="0" indent="0">
              <a:buNone/>
            </a:pPr>
            <a:endParaRPr lang="en-US" sz="2400" dirty="0">
              <a:solidFill>
                <a:srgbClr val="080808"/>
              </a:solidFill>
              <a:ea typeface="+mj-lt"/>
              <a:cs typeface="+mj-lt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&lt;</a:t>
            </a:r>
            <a:r>
              <a:rPr lang="en-US" sz="2400" b="1" dirty="0" err="1">
                <a:solidFill>
                  <a:srgbClr val="00428C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simpleType</a:t>
            </a:r>
            <a:r>
              <a:rPr lang="en-US" sz="2400" b="1" dirty="0">
                <a:solidFill>
                  <a:srgbClr val="00428C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121314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name</a:t>
            </a: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="</a:t>
            </a:r>
            <a:r>
              <a:rPr lang="en-US" sz="2400" b="1" dirty="0" err="1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longitude_degrees</a:t>
            </a: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"</a:t>
            </a:r>
            <a:br>
              <a:rPr lang="en-US" sz="2400" b="1" dirty="0"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            </a:t>
            </a:r>
            <a:r>
              <a:rPr lang="en-US" sz="2400" b="1" dirty="0" err="1">
                <a:solidFill>
                  <a:srgbClr val="004B9F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dfdl</a:t>
            </a:r>
            <a:r>
              <a:rPr lang="en-US" sz="2400" b="1" dirty="0" err="1">
                <a:solidFill>
                  <a:srgbClr val="121314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:binaryFloatRep</a:t>
            </a: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="</a:t>
            </a:r>
            <a:r>
              <a:rPr lang="en-US" sz="2400" b="1" dirty="0" err="1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ieee</a:t>
            </a: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"</a:t>
            </a:r>
            <a:br>
              <a:rPr lang="en-US" sz="2400" b="1" dirty="0"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            </a:t>
            </a:r>
            <a:r>
              <a:rPr lang="en-US" sz="2400" b="1" dirty="0" err="1">
                <a:solidFill>
                  <a:srgbClr val="004B9F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dfdl</a:t>
            </a:r>
            <a:r>
              <a:rPr lang="en-US" sz="2400" b="1" dirty="0" err="1">
                <a:solidFill>
                  <a:srgbClr val="121314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:lengthKind</a:t>
            </a: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="implicit"</a:t>
            </a: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&lt;annotation&gt;&lt;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appinfo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source="http://www.ogf.org/dfdl"&gt;</a:t>
            </a:r>
          </a:p>
          <a:p>
            <a:pPr marL="0" indent="0">
              <a:buNone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&lt;!-- </a:t>
            </a:r>
          </a:p>
          <a:p>
            <a:pPr marL="0" indent="0">
              <a:buNone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bad idea. Don't do this to check valid values of numbers.</a:t>
            </a:r>
          </a:p>
          <a:p>
            <a:pPr marL="0" indent="0">
              <a:buNone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These numbers are well formed even if out of range.</a:t>
            </a:r>
          </a:p>
          <a:p>
            <a:pPr marL="0" indent="0">
              <a:buNone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Turn on Daffodil's validation, or use a separate </a:t>
            </a:r>
            <a:r>
              <a:rPr kumimoji="0" lang="en-US" altLang="en-US" sz="2400" b="1" i="1" u="none" strike="noStrike" cap="none" normalizeH="0" baseline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validator process. </a:t>
            </a:r>
            <a:endParaRPr kumimoji="0" lang="en-US" altLang="en-US" sz="2400" b="1" i="1" u="none" strike="noStrike" cap="none" normalizeH="0" baseline="0" dirty="0">
              <a:ln>
                <a:noFill/>
              </a:ln>
              <a:solidFill>
                <a:srgbClr val="8C8C8C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--&gt;</a:t>
            </a:r>
            <a:b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4B9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dfdl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42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:assert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&gt;{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dfdl:checkConstraints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(.) }&lt;/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4B9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dfdl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0042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:assert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2400" b="1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appinfo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&gt;&lt;/annotation&gt;</a:t>
            </a:r>
            <a:br>
              <a:rPr lang="en-US" sz="2400" b="1" dirty="0"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  &lt;</a:t>
            </a:r>
            <a:r>
              <a:rPr lang="en-US" sz="2400" b="1" dirty="0">
                <a:solidFill>
                  <a:srgbClr val="00428C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restriction </a:t>
            </a:r>
            <a:r>
              <a:rPr lang="en-US" sz="2400" b="1" dirty="0">
                <a:solidFill>
                  <a:srgbClr val="121314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base</a:t>
            </a: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="</a:t>
            </a:r>
            <a:r>
              <a:rPr lang="en-US" sz="2400" b="1" dirty="0" err="1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xs:float</a:t>
            </a: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"</a:t>
            </a: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&gt;</a:t>
            </a:r>
            <a:br>
              <a:rPr lang="en-US" sz="2400" b="1" dirty="0"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    &lt;</a:t>
            </a:r>
            <a:r>
              <a:rPr lang="en-US" sz="2400" b="1" dirty="0" err="1">
                <a:solidFill>
                  <a:srgbClr val="00428C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minInclusive</a:t>
            </a:r>
            <a:r>
              <a:rPr lang="en-US" sz="2400" b="1" dirty="0">
                <a:solidFill>
                  <a:srgbClr val="00428C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121314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value</a:t>
            </a: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="-180.0"</a:t>
            </a: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/&gt;</a:t>
            </a:r>
            <a:br>
              <a:rPr lang="en-US" sz="2400" b="1" dirty="0"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    &lt;</a:t>
            </a:r>
            <a:r>
              <a:rPr lang="en-US" sz="2400" b="1" dirty="0" err="1">
                <a:solidFill>
                  <a:srgbClr val="00428C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maxInclusive</a:t>
            </a:r>
            <a:r>
              <a:rPr lang="en-US" sz="2400" b="1" dirty="0">
                <a:solidFill>
                  <a:srgbClr val="00428C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121314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value</a:t>
            </a:r>
            <a:r>
              <a:rPr lang="en-US" sz="2400" b="1" dirty="0">
                <a:solidFill>
                  <a:srgbClr val="6A84DB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="180.0"</a:t>
            </a: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/&gt;</a:t>
            </a:r>
            <a:br>
              <a:rPr lang="en-US" sz="2400" b="1" dirty="0"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  &lt;/</a:t>
            </a:r>
            <a:r>
              <a:rPr lang="en-US" sz="2400" b="1" dirty="0">
                <a:solidFill>
                  <a:srgbClr val="00428C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restriction</a:t>
            </a: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&gt;</a:t>
            </a:r>
            <a:br>
              <a:rPr lang="en-US" sz="2400" b="1" dirty="0"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&lt;/</a:t>
            </a:r>
            <a:r>
              <a:rPr lang="en-US" sz="2400" b="1" dirty="0" err="1">
                <a:solidFill>
                  <a:srgbClr val="00428C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simpleType</a:t>
            </a:r>
            <a:r>
              <a:rPr lang="en-US" sz="2400" b="1" dirty="0">
                <a:solidFill>
                  <a:srgbClr val="080808"/>
                </a:solidFill>
                <a:latin typeface="Courier New" panose="02070309020205020404" pitchFamily="49" charset="0"/>
                <a:ea typeface="+mj-lt"/>
                <a:cs typeface="Courier New" panose="02070309020205020404" pitchFamily="49" charset="0"/>
              </a:rPr>
              <a:t>&gt;</a:t>
            </a:r>
            <a:endParaRPr lang="en-US" sz="2400" b="1" dirty="0">
              <a:latin typeface="Courier New" panose="02070309020205020404" pitchFamily="49" charset="0"/>
              <a:ea typeface="Noto Sans"/>
              <a:cs typeface="Courier New" panose="02070309020205020404" pitchFamily="49" charset="0"/>
            </a:endParaRPr>
          </a:p>
          <a:p>
            <a:pPr marL="456565" indent="-456565"/>
            <a:endParaRPr lang="en-US" sz="3700" dirty="0">
              <a:ea typeface="Noto San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DB92E22-75EF-6871-5D72-2EF9D49F3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67947E2-B017-27C6-58A6-F4EC139E7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19876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804A6-AB63-1F9B-CE4A-F9F83244F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A447A6-237F-3814-2CB7-68C56BEC7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using </a:t>
            </a:r>
            <a:r>
              <a:rPr lang="en-US" dirty="0" err="1"/>
              <a:t>dfdl:checkConstraints</a:t>
            </a:r>
            <a:r>
              <a:rPr lang="en-US" dirty="0"/>
              <a:t>()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BCDCD-F7F4-D8A7-86B2-EF9BE1851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are just validating the data, turn on Daffodil validation, and test for validation errors at end of parse. </a:t>
            </a:r>
          </a:p>
          <a:p>
            <a:pPr lvl="1"/>
            <a:r>
              <a:rPr lang="en-US" dirty="0"/>
              <a:t>validation 'limited' (or 'daffodil', meaning built-in) is done efficiently by Daffodil as it traverses the data</a:t>
            </a:r>
          </a:p>
          <a:p>
            <a:pPr lvl="1"/>
            <a:r>
              <a:rPr lang="en-US" dirty="0"/>
              <a:t>validation 'full' (or 'xerces') outputs XML and calls Xerces to validate it. This is less efficient.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3CFA8-490A-8C4D-80B8-B2A10371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63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2913-2122-80C7-2B6E-3AC8E7373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F8F26B-F91B-0A6A-830D-B75F21FA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Unparsing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3BAB17-B581-E6D0-BD3C-619233E5D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</a:t>
            </a:r>
            <a:r>
              <a:rPr lang="en-US" dirty="0" err="1"/>
              <a:t>dfdl:outputValueCalc</a:t>
            </a:r>
            <a:r>
              <a:rPr lang="en-US" dirty="0"/>
              <a:t> expressions, accept any value that is well-formed, not only valid values. </a:t>
            </a:r>
          </a:p>
          <a:p>
            <a:r>
              <a:rPr lang="en-US" dirty="0"/>
              <a:t>Why?</a:t>
            </a:r>
          </a:p>
          <a:p>
            <a:pPr lvl="1"/>
            <a:r>
              <a:rPr lang="en-US" dirty="0"/>
              <a:t>Allows generation of invalid data for testing</a:t>
            </a:r>
          </a:p>
          <a:p>
            <a:pPr lvl="1"/>
            <a:r>
              <a:rPr lang="en-US" dirty="0"/>
              <a:t>Symmetry with parsing - what the parser can create, the unparser should be able to serialize back</a:t>
            </a:r>
          </a:p>
          <a:p>
            <a:pPr lvl="1"/>
            <a:endParaRPr lang="en-US" dirty="0"/>
          </a:p>
          <a:p>
            <a:r>
              <a:rPr lang="en-US" dirty="0"/>
              <a:t>Exception: Reject Elements</a:t>
            </a:r>
          </a:p>
          <a:p>
            <a:pPr lvl="1"/>
            <a:r>
              <a:rPr lang="en-US" dirty="0"/>
              <a:t>Schemas can be designed to tolerate bad data and create reject elements</a:t>
            </a:r>
          </a:p>
          <a:p>
            <a:pPr lvl="2"/>
            <a:r>
              <a:rPr lang="en-US" dirty="0"/>
              <a:t>Especially for large file formats where failing to parse the whole file on one bad data item may be undesirable.</a:t>
            </a:r>
          </a:p>
          <a:p>
            <a:pPr lvl="1"/>
            <a:r>
              <a:rPr lang="en-US" dirty="0"/>
              <a:t>Reject elements should be designed to always be invalid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DBAA4-2F42-789A-2E47-AB3E1C30E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E9A59-3F40-F444-BD0F-26E6D063A5F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147246"/>
      </p:ext>
    </p:extLst>
  </p:cSld>
  <p:clrMapOvr>
    <a:masterClrMapping/>
  </p:clrMapOvr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F-Daffodil-Powerpoint-Template.potx" id="{1B7B6B17-DD1C-4004-B1C8-A6B0E304C607}" vid="{E90DA38C-6206-4BBE-99F8-A6461D89AE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E6E0BF-F4A0-41B6-8685-63FD81E4D1BE}">
  <ds:schemaRefs>
    <ds:schemaRef ds:uri="213a615a-fc15-48a4-b44f-57f78f25f7bf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7ec4416c-5e17-4e82-a7de-d59c1ce11d8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38</TotalTime>
  <Words>740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Courier New</vt:lpstr>
      <vt:lpstr>Calibri</vt:lpstr>
      <vt:lpstr>Noto Sans</vt:lpstr>
      <vt:lpstr>Arial</vt:lpstr>
      <vt:lpstr>Wingdings</vt:lpstr>
      <vt:lpstr>Owl Tresys</vt:lpstr>
      <vt:lpstr>Well-Formed vs. Valid </vt:lpstr>
      <vt:lpstr>Avoid using dfdl:checkConstraints()</vt:lpstr>
      <vt:lpstr>Parse Errors vs. "Fail Fast" approach</vt:lpstr>
      <vt:lpstr>Avoid dfdl:checkConstraints</vt:lpstr>
      <vt:lpstr>Avoid using dfdl:checkConstraints()</vt:lpstr>
      <vt:lpstr>Unparsing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2025-12-22T17:53:24Z</dcterms:created>
  <dcterms:modified xsi:type="dcterms:W3CDTF">2025-12-22T21:27:33Z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
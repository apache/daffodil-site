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4"/>
  </p:sldMasterIdLst>
  <p:notesMasterIdLst>
    <p:notesMasterId r:id="rId9"/>
  </p:notesMasterIdLst>
  <p:handoutMasterIdLst>
    <p:handoutMasterId r:id="rId10"/>
  </p:handoutMasterIdLst>
  <p:sldIdLst>
    <p:sldId id="270" r:id="rId5"/>
    <p:sldId id="273" r:id="rId6"/>
    <p:sldId id="272" r:id="rId7"/>
    <p:sldId id="271" r:id="rId8"/>
  </p:sldIdLst>
  <p:sldSz cx="12192000" cy="6858000"/>
  <p:notesSz cx="6858000" cy="9144000"/>
  <p:embeddedFontLst>
    <p:embeddedFont>
      <p:font typeface="Noto Sans" panose="020B050204050402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B61E61-8FB2-CE41-73A2-D18C7201AEBA}" name="Beckerle, Mike" initials="MB" userId="S::mbeckerle@owlcyberdefense.com::41155a9a-513c-4288-9ceb-5c90f574ab21" providerId="AD"/>
  <p188:author id="{244309C5-15C3-A979-A70C-136C3B0AC25A}" name="Sood, Harinder" initials="SH" userId="S::hsood@owlcyberdefense.com::0ec8c5c7-03d2-48d0-9195-1c9ef9f6da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16315A"/>
    <a:srgbClr val="0D203D"/>
    <a:srgbClr val="E6E7E8"/>
    <a:srgbClr val="0D2035"/>
    <a:srgbClr val="0D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857113-CCE1-4EC8-8DE6-729D4D68471A}" v="1" dt="2025-11-19T14:12:51.0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597" autoAdjust="0"/>
  </p:normalViewPr>
  <p:slideViewPr>
    <p:cSldViewPr snapToGrid="0" snapToObjects="1">
      <p:cViewPr varScale="1">
        <p:scale>
          <a:sx n="101" d="100"/>
          <a:sy n="101" d="100"/>
        </p:scale>
        <p:origin x="99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napToObjects="1">
      <p:cViewPr varScale="1">
        <p:scale>
          <a:sx n="79" d="100"/>
          <a:sy n="79" d="100"/>
        </p:scale>
        <p:origin x="402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250A63-030B-4438-BE70-50EDBC0866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3974D0-9B26-43B7-8963-F4122ECD15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6C127-A84A-41C1-BFB1-ED6D88031FE2}" type="datetimeFigureOut">
              <a:rPr lang="en-US" smtClean="0">
                <a:latin typeface="Noto Sans" panose="020B0502040504020204" pitchFamily="34" charset="0"/>
              </a:rPr>
              <a:t>12/22/2025</a:t>
            </a:fld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AB04E-AA39-4BDF-9C11-00567415CA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39012-E7C3-4A01-A659-BF6A28F591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20852-FEC4-42AD-B3FE-D542A75F8A1A}" type="slidenum">
              <a:rPr lang="en-US" smtClean="0">
                <a:latin typeface="Noto Sans" panose="020B0502040504020204" pitchFamily="34" charset="0"/>
              </a:rPr>
              <a:t>‹#›</a:t>
            </a:fld>
            <a:endParaRPr lang="en-US" dirty="0">
              <a:latin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077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104331F3-F512-0241-93B1-4EC568B308ED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CF152513-84CE-DE4C-84E6-0C1BDA4E2D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4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5484" y="125004"/>
            <a:ext cx="9654540" cy="68053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5482" y="1007950"/>
            <a:ext cx="11465923" cy="5135834"/>
          </a:xfrm>
        </p:spPr>
        <p:txBody>
          <a:bodyPr/>
          <a:lstStyle>
            <a:lvl1pPr marL="457189" indent="-457189">
              <a:lnSpc>
                <a:spcPct val="100000"/>
              </a:lnSpc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n-lt"/>
              </a:defRPr>
            </a:lvl1pPr>
            <a:lvl2pPr marL="990575" indent="-380990">
              <a:lnSpc>
                <a:spcPct val="100000"/>
              </a:lnSpc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</a:defRPr>
            </a:lvl2pPr>
            <a:lvl3pPr marL="1523962" indent="-304792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903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4725" y="124414"/>
            <a:ext cx="9516291" cy="72031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36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916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hyperlink" Target="https://www.apache.org/licenses/LICENSE-2.0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09BB2-F79A-234D-8E9E-E1D204967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60" y="140254"/>
            <a:ext cx="9772131" cy="733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D83F1-A007-0E40-9860-7C73664E5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560" y="1404303"/>
            <a:ext cx="11365800" cy="4639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A2C13-ADE4-454D-A0F2-F3883FD2D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2206" y="6376580"/>
            <a:ext cx="781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</a:defRPr>
            </a:lvl1pPr>
          </a:lstStyle>
          <a:p>
            <a:fld id="{E86E9A59-3F40-F444-BD0F-26E6D063A5F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AI-generated content may be incorrect.">
            <a:extLst>
              <a:ext uri="{FF2B5EF4-FFF2-40B4-BE49-F238E27FC236}">
                <a16:creationId xmlns:a16="http://schemas.microsoft.com/office/drawing/2014/main" id="{D476FC69-7F9A-14CE-4937-48E3A8F81D3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83925" y="6290557"/>
            <a:ext cx="930276" cy="4883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002571-4629-40DC-3401-F80007F4B32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134600" y="140254"/>
            <a:ext cx="1868263" cy="3518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25BEF2-EF2E-E5C3-C2A5-00069AB7BBB3}"/>
              </a:ext>
            </a:extLst>
          </p:cNvPr>
          <p:cNvSpPr txBox="1"/>
          <p:nvPr userDrawn="1"/>
        </p:nvSpPr>
        <p:spPr>
          <a:xfrm>
            <a:off x="1175161" y="6382408"/>
            <a:ext cx="2704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Copyright © 2025 The Apache Software Foundation, </a:t>
            </a:r>
          </a:p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Licensed under the </a:t>
            </a:r>
            <a:r>
              <a:rPr lang="en-US" sz="800" u="sng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7"/>
              </a:rPr>
              <a:t>Apache License, Version 2.0</a:t>
            </a:r>
            <a:endParaRPr lang="en-US" sz="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5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Noto Sans" panose="020B05020405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Shape 3"/>
          <p:cNvSpPr txBox="1"/>
          <p:nvPr/>
        </p:nvSpPr>
        <p:spPr>
          <a:xfrm>
            <a:off x="2552880" y="6408360"/>
            <a:ext cx="5190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endParaRPr lang="en-US" sz="1200" spc="-1" dirty="0">
              <a:latin typeface="Times New Roman"/>
            </a:endParaRPr>
          </a:p>
        </p:txBody>
      </p:sp>
      <p:sp>
        <p:nvSpPr>
          <p:cNvPr id="190" name="CustomShape 5"/>
          <p:cNvSpPr/>
          <p:nvPr/>
        </p:nvSpPr>
        <p:spPr>
          <a:xfrm>
            <a:off x="1375110" y="2808688"/>
            <a:ext cx="8968680" cy="2010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440">
            <a:solidFill>
              <a:schemeClr val="accent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0000"/>
                </a:solidFill>
                <a:latin typeface="Courier New"/>
              </a:rPr>
              <a:t>/foo/bar/data.csv</a:t>
            </a:r>
            <a:endParaRPr lang="en-US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0000"/>
                </a:solidFill>
                <a:latin typeface="Courier New"/>
              </a:rPr>
              <a:t> </a:t>
            </a:r>
            <a:endParaRPr lang="en-US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0000"/>
                </a:solidFill>
                <a:latin typeface="Courier New"/>
              </a:rPr>
              <a:t>FIELD1, FIELD2, FIELD3</a:t>
            </a:r>
            <a:endParaRPr lang="en-US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0000"/>
                </a:solidFill>
                <a:latin typeface="Courier New"/>
              </a:rPr>
              <a:t>1, 2, [11,22,33]</a:t>
            </a:r>
            <a:endParaRPr lang="en-US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0000"/>
                </a:solidFill>
                <a:latin typeface="Courier New"/>
              </a:rPr>
              <a:t>4, </a:t>
            </a:r>
            <a:r>
              <a:rPr lang="en-US" b="1" spc="-1" dirty="0" err="1">
                <a:solidFill>
                  <a:srgbClr val="000000"/>
                </a:solidFill>
                <a:latin typeface="Courier New"/>
              </a:rPr>
              <a:t>sym_data</a:t>
            </a:r>
            <a:r>
              <a:rPr lang="en-US" b="1" spc="-1" dirty="0">
                <a:solidFill>
                  <a:srgbClr val="000000"/>
                </a:solidFill>
                <a:latin typeface="Courier New"/>
              </a:rPr>
              <a:t>, [66, 77]</a:t>
            </a:r>
            <a:endParaRPr lang="en-US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0000"/>
                </a:solidFill>
                <a:latin typeface="Courier New"/>
              </a:rPr>
              <a:t>/a/b/c, 9, 9873AF897FED080989873AF897FED080989873AF897FED0809898</a:t>
            </a:r>
            <a:endParaRPr lang="en-US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pc="-1" dirty="0">
              <a:latin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0C1177-28C2-8FAF-A633-84825E94A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11605067" cy="2163417"/>
          </a:xfrm>
        </p:spPr>
        <p:txBody>
          <a:bodyPr/>
          <a:lstStyle/>
          <a:p>
            <a:pPr marL="343080" indent="-342720">
              <a:spcBef>
                <a:spcPts val="561"/>
              </a:spcBef>
              <a:buClr>
                <a:srgbClr val="23408F"/>
              </a:buClr>
              <a:buFont typeface="Wingdings" charset="2"/>
              <a:buChar char=""/>
            </a:pPr>
            <a:r>
              <a:rPr lang="en-US" sz="4000" spc="-1" dirty="0">
                <a:solidFill>
                  <a:srgbClr val="23408F"/>
                </a:solidFill>
                <a:latin typeface="Noto Sans"/>
              </a:rPr>
              <a:t>Your data is this </a:t>
            </a:r>
            <a:r>
              <a:rPr lang="en-US" sz="4000" i="1" spc="-1" dirty="0">
                <a:solidFill>
                  <a:srgbClr val="23408F"/>
                </a:solidFill>
                <a:latin typeface="Noto Sans"/>
              </a:rPr>
              <a:t>ad-hoc</a:t>
            </a:r>
            <a:r>
              <a:rPr lang="en-US" sz="4000" spc="-1" dirty="0">
                <a:solidFill>
                  <a:srgbClr val="23408F"/>
                </a:solidFill>
                <a:latin typeface="Noto Sans"/>
              </a:rPr>
              <a:t> </a:t>
            </a:r>
            <a:r>
              <a:rPr lang="en-US" sz="4000" i="1" spc="-1" dirty="0">
                <a:solidFill>
                  <a:srgbClr val="23408F"/>
                </a:solidFill>
                <a:latin typeface="Noto Sans"/>
              </a:rPr>
              <a:t>CSV variant</a:t>
            </a:r>
          </a:p>
          <a:p>
            <a:pPr marL="343080" indent="-342720">
              <a:spcBef>
                <a:spcPts val="561"/>
              </a:spcBef>
              <a:buClr>
                <a:srgbClr val="23408F"/>
              </a:buClr>
              <a:buFont typeface="Wingdings" charset="2"/>
              <a:buChar char=""/>
            </a:pPr>
            <a:r>
              <a:rPr lang="en-US" sz="4000" spc="-1" dirty="0">
                <a:solidFill>
                  <a:srgbClr val="23408F"/>
                </a:solidFill>
                <a:latin typeface="Noto Sans"/>
              </a:rPr>
              <a:t>Your goal: enforce this format on all such files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DC00A0-B70C-4BA2-A1F2-03E5F0B6F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B7ABC5-A7CA-46E1-B32B-4EAA9071F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pc="-1" dirty="0">
                <a:solidFill>
                  <a:srgbClr val="000000"/>
                </a:solidFill>
                <a:latin typeface="Noto Sans"/>
              </a:rPr>
              <a:t>Schemas for Structured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18331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Shape 1"/>
          <p:cNvSpPr txBox="1"/>
          <p:nvPr/>
        </p:nvSpPr>
        <p:spPr>
          <a:xfrm>
            <a:off x="1981200" y="351000"/>
            <a:ext cx="8229240" cy="5630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endParaRPr lang="en-US" sz="4000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0" name="TextShape 2"/>
          <p:cNvSpPr txBox="1"/>
          <p:nvPr/>
        </p:nvSpPr>
        <p:spPr>
          <a:xfrm>
            <a:off x="1981200" y="1066680"/>
            <a:ext cx="8229240" cy="4800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spcBef>
                <a:spcPts val="561"/>
              </a:spcBef>
            </a:pPr>
            <a:endParaRPr lang="en-US" sz="2800" spc="-1" dirty="0">
              <a:solidFill>
                <a:srgbClr val="23408F"/>
              </a:solidFill>
              <a:latin typeface="Noto San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44DA21-80F6-48DF-A88E-42BD8F37B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A DFDL Schema can ensure many things:</a:t>
            </a:r>
          </a:p>
          <a:p>
            <a:r>
              <a:rPr lang="en-US" dirty="0"/>
              <a:t>Number of fields in each row matches the number of column headers.</a:t>
            </a:r>
          </a:p>
          <a:p>
            <a:r>
              <a:rPr lang="en-US" dirty="0"/>
              <a:t>Column headers are proper identifiers (E.g., all caps alphanumeric)</a:t>
            </a:r>
          </a:p>
          <a:p>
            <a:r>
              <a:rPr lang="en-US" dirty="0"/>
              <a:t>Only last column can be variable-length vector or hex blob.</a:t>
            </a:r>
          </a:p>
          <a:p>
            <a:r>
              <a:rPr lang="en-US" dirty="0"/>
              <a:t>Fields can be tab or comma separated.</a:t>
            </a:r>
          </a:p>
          <a:p>
            <a:r>
              <a:rPr lang="en-US" dirty="0"/>
              <a:t>Fields can have a maximum field length - excluding the vectors/blobs. (which could have a different max length)</a:t>
            </a:r>
          </a:p>
          <a:p>
            <a:r>
              <a:rPr lang="en-US" dirty="0"/>
              <a:t>Fields syntax can either match the syntax of integers, identifiers, file names, dates/times, etc., for some list of acceptable field syntaxes.</a:t>
            </a:r>
          </a:p>
          <a:p>
            <a:r>
              <a:rPr lang="en-US" dirty="0"/>
              <a:t>Hex blobs are hex-digits only. Enforce maximum length.</a:t>
            </a:r>
          </a:p>
          <a:p>
            <a:r>
              <a:rPr lang="en-US" dirty="0"/>
              <a:t>Files obey a specified character-set encoding.</a:t>
            </a:r>
          </a:p>
          <a:p>
            <a:r>
              <a:rPr lang="en-US" dirty="0"/>
              <a:t>Maximum number of rows/lines.</a:t>
            </a:r>
          </a:p>
          <a:p>
            <a:r>
              <a:rPr lang="en-US" dirty="0"/>
              <a:t>Some characters are disallowed (control characters, for example).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F9B916-FFDF-4F69-9209-E145929FE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CSV variant Well-Formed 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E90133-FE28-780B-EF80-ADB968878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Shape 2"/>
          <p:cNvSpPr txBox="1"/>
          <p:nvPr/>
        </p:nvSpPr>
        <p:spPr>
          <a:xfrm>
            <a:off x="2454600" y="6408360"/>
            <a:ext cx="52887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endParaRPr lang="en-US" sz="1200" spc="-1" dirty="0">
              <a:latin typeface="Times New Roman"/>
            </a:endParaRPr>
          </a:p>
        </p:txBody>
      </p:sp>
      <p:sp>
        <p:nvSpPr>
          <p:cNvPr id="198" name="CustomShape 4"/>
          <p:cNvSpPr/>
          <p:nvPr/>
        </p:nvSpPr>
        <p:spPr>
          <a:xfrm>
            <a:off x="1657920" y="1022400"/>
            <a:ext cx="8665920" cy="5205240"/>
          </a:xfrm>
          <a:prstGeom prst="rect">
            <a:avLst/>
          </a:prstGeom>
          <a:solidFill>
            <a:srgbClr val="CCFFCC"/>
          </a:solidFill>
          <a:ln w="38160">
            <a:solidFill>
              <a:schemeClr val="tx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&lt;csv1&gt;</a:t>
            </a: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  &lt;version&gt;1.0&lt;/version&gt;</a:t>
            </a: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  &lt;</a:t>
            </a:r>
            <a:r>
              <a:rPr lang="en-US" sz="1400" b="1" spc="-1" dirty="0" err="1">
                <a:solidFill>
                  <a:srgbClr val="000000"/>
                </a:solidFill>
                <a:latin typeface="Courier New"/>
                <a:ea typeface="Times New Roman"/>
              </a:rPr>
              <a:t>fileName</a:t>
            </a: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&gt;/foo/bar/data.csv&lt;/</a:t>
            </a:r>
            <a:r>
              <a:rPr lang="en-US" sz="1400" b="1" spc="-1" dirty="0" err="1">
                <a:solidFill>
                  <a:srgbClr val="000000"/>
                </a:solidFill>
                <a:latin typeface="Courier New"/>
                <a:ea typeface="Times New Roman"/>
              </a:rPr>
              <a:t>fileName</a:t>
            </a: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&gt;</a:t>
            </a: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  &lt;columns&gt;</a:t>
            </a: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    &lt;column&gt;FIELD1&lt;/COLUMN&gt;</a:t>
            </a: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    &lt;column&gt;FIELD2&lt;/COLUMN&gt;</a:t>
            </a: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    &lt;column&gt;FIELD3&lt;/COLUMN&gt;</a:t>
            </a: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  &lt;/columns&gt;</a:t>
            </a: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  &lt;rows&gt;</a:t>
            </a: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    &lt;row&gt;</a:t>
            </a: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      &lt;c&gt;&lt;</a:t>
            </a:r>
            <a:r>
              <a:rPr lang="en-US" sz="1400" b="1" spc="-1" dirty="0" err="1">
                <a:solidFill>
                  <a:srgbClr val="000000"/>
                </a:solidFill>
                <a:latin typeface="Courier New"/>
                <a:ea typeface="Times New Roman"/>
              </a:rPr>
              <a:t>i</a:t>
            </a: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&gt;1&lt;/</a:t>
            </a:r>
            <a:r>
              <a:rPr lang="en-US" sz="1400" b="1" spc="-1" dirty="0" err="1">
                <a:solidFill>
                  <a:srgbClr val="000000"/>
                </a:solidFill>
                <a:latin typeface="Courier New"/>
                <a:ea typeface="Times New Roman"/>
              </a:rPr>
              <a:t>i</a:t>
            </a: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&gt;&lt;/c&gt;&lt;c&gt;&lt;</a:t>
            </a:r>
            <a:r>
              <a:rPr lang="en-US" sz="1400" b="1" spc="-1" dirty="0" err="1">
                <a:solidFill>
                  <a:srgbClr val="000000"/>
                </a:solidFill>
                <a:latin typeface="Courier New"/>
                <a:ea typeface="Times New Roman"/>
              </a:rPr>
              <a:t>i</a:t>
            </a: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&gt;2&lt;/</a:t>
            </a:r>
            <a:r>
              <a:rPr lang="en-US" sz="1400" b="1" spc="-1" dirty="0" err="1">
                <a:solidFill>
                  <a:srgbClr val="000000"/>
                </a:solidFill>
                <a:latin typeface="Courier New"/>
                <a:ea typeface="Times New Roman"/>
              </a:rPr>
              <a:t>i</a:t>
            </a: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&gt;&lt;/c&gt;</a:t>
            </a: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      &lt;vector&gt;&lt;v&gt;11&lt;/v&gt;&lt;v&gt;22&lt;/v&gt;&lt;v&gt;33&lt;/v&gt;&lt;/vector&gt;</a:t>
            </a: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    &lt;/row&gt;</a:t>
            </a: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    &lt;row&gt;</a:t>
            </a: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      &lt;c&gt;&lt;</a:t>
            </a:r>
            <a:r>
              <a:rPr lang="en-US" sz="1400" b="1" spc="-1" dirty="0" err="1">
                <a:solidFill>
                  <a:srgbClr val="000000"/>
                </a:solidFill>
                <a:latin typeface="Courier New"/>
                <a:ea typeface="Times New Roman"/>
              </a:rPr>
              <a:t>i</a:t>
            </a: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&gt;4&lt;/</a:t>
            </a:r>
            <a:r>
              <a:rPr lang="en-US" sz="1400" b="1" spc="-1" dirty="0" err="1">
                <a:solidFill>
                  <a:srgbClr val="000000"/>
                </a:solidFill>
                <a:latin typeface="Courier New"/>
                <a:ea typeface="Times New Roman"/>
              </a:rPr>
              <a:t>i</a:t>
            </a: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&gt;&lt;/c&gt;&lt;c&gt;&lt;s&gt;</a:t>
            </a:r>
            <a:r>
              <a:rPr lang="en-US" sz="1400" b="1" spc="-1" dirty="0" err="1">
                <a:solidFill>
                  <a:srgbClr val="000000"/>
                </a:solidFill>
                <a:latin typeface="Courier New"/>
                <a:ea typeface="Times New Roman"/>
              </a:rPr>
              <a:t>sym_data</a:t>
            </a: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&lt;/s&gt;&lt;/c&gt;</a:t>
            </a: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      &lt;vector&gt;&lt;v&gt;66&lt;/v&gt;&lt;v&gt;77&lt;/v&gt;&lt;/vector&gt;</a:t>
            </a: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    &lt;/row&gt;</a:t>
            </a: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    &lt;row&gt;</a:t>
            </a: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      &lt;c&gt;&lt;p&gt;/a/b/c&lt;/p&gt;&lt;/c&gt;</a:t>
            </a: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      &lt;c&gt;&lt;</a:t>
            </a:r>
            <a:r>
              <a:rPr lang="en-US" sz="1400" b="1" spc="-1" dirty="0" err="1">
                <a:solidFill>
                  <a:srgbClr val="000000"/>
                </a:solidFill>
                <a:latin typeface="Courier New"/>
                <a:ea typeface="Times New Roman"/>
              </a:rPr>
              <a:t>i</a:t>
            </a: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&gt;9&lt;/</a:t>
            </a:r>
            <a:r>
              <a:rPr lang="en-US" sz="1400" b="1" spc="-1" dirty="0" err="1">
                <a:solidFill>
                  <a:srgbClr val="000000"/>
                </a:solidFill>
                <a:latin typeface="Courier New"/>
                <a:ea typeface="Times New Roman"/>
              </a:rPr>
              <a:t>i</a:t>
            </a: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&gt;&lt;/c&gt;</a:t>
            </a: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      &lt;hex&gt;9873AF897FED080989873AF897FED080989873AF897FED0809898&lt;/hex&gt;</a:t>
            </a: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    &lt;/row&gt;</a:t>
            </a: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  &lt;/rows&gt;</a:t>
            </a: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pc="-1" dirty="0">
                <a:solidFill>
                  <a:srgbClr val="000000"/>
                </a:solidFill>
                <a:latin typeface="Courier New"/>
                <a:ea typeface="Times New Roman"/>
              </a:rPr>
              <a:t>&lt;/csv1&gt;</a:t>
            </a:r>
            <a:endParaRPr lang="en-US" sz="1400" spc="-1" dirty="0">
              <a:latin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4DFEF0-87FE-BE95-1D8C-8791345C2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pc="-1" dirty="0">
                <a:solidFill>
                  <a:srgbClr val="000000"/>
                </a:solidFill>
                <a:latin typeface="Noto Sans"/>
              </a:rPr>
              <a:t>Parse Output Verifies Well-Formed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D675AF-81D2-4B0E-81CB-05A5DC783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27388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Shape 2"/>
          <p:cNvSpPr txBox="1"/>
          <p:nvPr/>
        </p:nvSpPr>
        <p:spPr>
          <a:xfrm>
            <a:off x="2454600" y="6408360"/>
            <a:ext cx="52887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endParaRPr lang="en-US" sz="1200" spc="-1" dirty="0">
              <a:latin typeface="Times New Roman"/>
            </a:endParaRPr>
          </a:p>
        </p:txBody>
      </p:sp>
      <p:sp>
        <p:nvSpPr>
          <p:cNvPr id="194" name="CustomShape 4"/>
          <p:cNvSpPr/>
          <p:nvPr/>
        </p:nvSpPr>
        <p:spPr>
          <a:xfrm>
            <a:off x="1322024" y="1019048"/>
            <a:ext cx="8902800" cy="255924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38160">
            <a:solidFill>
              <a:schemeClr val="accent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0000"/>
                </a:solidFill>
                <a:latin typeface="Courier New"/>
              </a:rPr>
              <a:t>&lt;? xml version="1.0" ?&gt;</a:t>
            </a:r>
            <a:endParaRPr lang="en-US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0000"/>
                </a:solidFill>
                <a:latin typeface="Courier New"/>
              </a:rPr>
              <a:t>&lt;</a:t>
            </a:r>
            <a:r>
              <a:rPr lang="en-US" b="1" spc="-1" dirty="0" err="1">
                <a:solidFill>
                  <a:srgbClr val="000000"/>
                </a:solidFill>
                <a:latin typeface="Courier New"/>
              </a:rPr>
              <a:t>textOK</a:t>
            </a:r>
            <a:r>
              <a:rPr lang="en-US" b="1" spc="-1" dirty="0">
                <a:solidFill>
                  <a:srgbClr val="000000"/>
                </a:solidFill>
                <a:latin typeface="Courier New"/>
              </a:rPr>
              <a:t>&gt;&lt;![CDATA[</a:t>
            </a:r>
            <a:endParaRPr lang="en-US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</a:rPr>
              <a:t>/foo/bar/data.csv</a:t>
            </a:r>
            <a:endParaRPr lang="en-US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</a:rPr>
              <a:t> </a:t>
            </a:r>
            <a:endParaRPr lang="en-US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</a:rPr>
              <a:t>FIELD1, FIELD2, FIELD3</a:t>
            </a:r>
            <a:endParaRPr lang="en-US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</a:rPr>
              <a:t>1, 2, [11,22,33]</a:t>
            </a:r>
            <a:endParaRPr lang="en-US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</a:rPr>
              <a:t>4, </a:t>
            </a:r>
            <a:r>
              <a:rPr lang="en-US" spc="-1" dirty="0" err="1">
                <a:solidFill>
                  <a:srgbClr val="000000"/>
                </a:solidFill>
                <a:latin typeface="Courier New"/>
              </a:rPr>
              <a:t>sym_data</a:t>
            </a:r>
            <a:r>
              <a:rPr lang="en-US" spc="-1" dirty="0">
                <a:solidFill>
                  <a:srgbClr val="000000"/>
                </a:solidFill>
                <a:latin typeface="Courier New"/>
              </a:rPr>
              <a:t>, [66, 77]</a:t>
            </a:r>
            <a:endParaRPr lang="en-US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</a:rPr>
              <a:t>/a/b/c, 9, 873AF897FED080989873AF897FED080989873AF897FED0809898</a:t>
            </a:r>
            <a:endParaRPr lang="en-US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0000"/>
                </a:solidFill>
                <a:latin typeface="Courier New"/>
              </a:rPr>
              <a:t>]]&gt;&lt;/</a:t>
            </a:r>
            <a:r>
              <a:rPr lang="en-US" b="1" spc="-1" dirty="0" err="1">
                <a:solidFill>
                  <a:srgbClr val="000000"/>
                </a:solidFill>
                <a:latin typeface="Courier New"/>
              </a:rPr>
              <a:t>textOK</a:t>
            </a:r>
            <a:r>
              <a:rPr lang="en-US" b="1" spc="-1" dirty="0">
                <a:solidFill>
                  <a:srgbClr val="000000"/>
                </a:solidFill>
                <a:latin typeface="Courier New"/>
              </a:rPr>
              <a:t>&gt;</a:t>
            </a:r>
            <a:endParaRPr lang="en-US" spc="-1" dirty="0">
              <a:latin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AD095A-86FD-4D96-87DD-00D728471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84" y="125004"/>
            <a:ext cx="9654540" cy="680539"/>
          </a:xfrm>
        </p:spPr>
        <p:txBody>
          <a:bodyPr/>
          <a:lstStyle/>
          <a:p>
            <a:r>
              <a:rPr lang="en-US" dirty="0"/>
              <a:t>Convert to XML - Wrong!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ACEBF4-363C-4F45-B3A1-CD6655CDB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44" y="3792473"/>
            <a:ext cx="11466512" cy="2143251"/>
          </a:xfrm>
        </p:spPr>
        <p:txBody>
          <a:bodyPr>
            <a:normAutofit fontScale="62500" lnSpcReduction="20000"/>
          </a:bodyPr>
          <a:lstStyle/>
          <a:p>
            <a:endParaRPr lang="en-US" dirty="0"/>
          </a:p>
          <a:p>
            <a:r>
              <a:rPr lang="en-US" dirty="0"/>
              <a:t>This is technically valid XML for a trivial schema</a:t>
            </a:r>
          </a:p>
          <a:p>
            <a:pPr marL="609585" lvl="1" indent="0">
              <a:buNone/>
            </a:pPr>
            <a:endParaRPr lang="en-US" dirty="0"/>
          </a:p>
          <a:p>
            <a:pPr marL="609585" lvl="1" indent="0">
              <a:buNone/>
            </a:pPr>
            <a:r>
              <a:rPr lang="en-US" dirty="0"/>
              <a:t>&lt;element name="</a:t>
            </a:r>
            <a:r>
              <a:rPr lang="en-US" dirty="0" err="1"/>
              <a:t>textOK</a:t>
            </a:r>
            <a:r>
              <a:rPr lang="en-US" dirty="0"/>
              <a:t>" type="</a:t>
            </a:r>
            <a:r>
              <a:rPr lang="en-US" dirty="0" err="1"/>
              <a:t>xs:string</a:t>
            </a:r>
            <a:r>
              <a:rPr lang="en-US" dirty="0"/>
              <a:t>"/&gt;</a:t>
            </a:r>
          </a:p>
          <a:p>
            <a:endParaRPr lang="en-US" dirty="0"/>
          </a:p>
          <a:p>
            <a:r>
              <a:rPr lang="en-US" dirty="0"/>
              <a:t>Schema doesn't do anything. Would be unacceptable or useless for most needs.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5EDC5-3DB6-5F50-47B9-E54D3314A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836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wl Tresys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70C0"/>
      </a:folHlink>
    </a:clrScheme>
    <a:fontScheme name="Noto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F-Daffodil-Powerpoint-Template.potx" id="{1B7B6B17-DD1C-4004-B1C8-A6B0E304C607}" vid="{E90DA38C-6206-4BBE-99F8-A6461D89AE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43770EEE52CD41AF88844CFD8CFC1F" ma:contentTypeVersion="19" ma:contentTypeDescription="Create a new document." ma:contentTypeScope="" ma:versionID="087aef2dacdf576614e125d015e2f287">
  <xsd:schema xmlns:xsd="http://www.w3.org/2001/XMLSchema" xmlns:xs="http://www.w3.org/2001/XMLSchema" xmlns:p="http://schemas.microsoft.com/office/2006/metadata/properties" xmlns:ns2="213a615a-fc15-48a4-b44f-57f78f25f7bf" xmlns:ns3="7ec4416c-5e17-4e82-a7de-d59c1ce11d89" targetNamespace="http://schemas.microsoft.com/office/2006/metadata/properties" ma:root="true" ma:fieldsID="aeb5c1f92c1e7d75cf293137a4dd3c28" ns2:_="" ns3:_="">
    <xsd:import namespace="213a615a-fc15-48a4-b44f-57f78f25f7bf"/>
    <xsd:import namespace="7ec4416c-5e17-4e82-a7de-d59c1ce11d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3a615a-fc15-48a4-b44f-57f78f25f7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c4416c-5e17-4e82-a7de-d59c1ce11d8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E6E0BF-F4A0-41B6-8685-63FD81E4D1BE}">
  <ds:schemaRefs>
    <ds:schemaRef ds:uri="7ec4416c-5e17-4e82-a7de-d59c1ce11d89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213a615a-fc15-48a4-b44f-57f78f25f7bf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D6448888-D94F-46D3-B5EF-CF8AC221F7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3a615a-fc15-48a4-b44f-57f78f25f7bf"/>
    <ds:schemaRef ds:uri="7ec4416c-5e17-4e82-a7de-d59c1ce11d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8870CC1-235C-4BD8-A628-EDFC5A270D0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ASF-Daffodil-Powerpoint-Template</Template>
  <TotalTime>9</TotalTime>
  <Words>532</Words>
  <Application>Microsoft Office PowerPoint</Application>
  <PresentationFormat>Widescreen</PresentationFormat>
  <Paragraphs>66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Calibri Light</vt:lpstr>
      <vt:lpstr>Times New Roman</vt:lpstr>
      <vt:lpstr>Noto Sans</vt:lpstr>
      <vt:lpstr>Courier New</vt:lpstr>
      <vt:lpstr>Arial</vt:lpstr>
      <vt:lpstr>Wingdings</vt:lpstr>
      <vt:lpstr>Owl Tresys</vt:lpstr>
      <vt:lpstr>Schemas for Structured Text</vt:lpstr>
      <vt:lpstr>Is this CSV variant Well-Formed ?</vt:lpstr>
      <vt:lpstr>Parse Output Verifies Well-Formed</vt:lpstr>
      <vt:lpstr>Convert to XML - Wrong!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Beckerle, Mike</dc:creator>
  <cp:lastModifiedBy>Beckerle, Mike</cp:lastModifiedBy>
  <cp:revision>1</cp:revision>
  <dcterms:created xsi:type="dcterms:W3CDTF">2025-12-22T19:47:40Z</dcterms:created>
  <dcterms:modified xsi:type="dcterms:W3CDTF">2025-12-22T19:57:10Z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0x010100AA43770EEE52CD41AF88844CFD8CFC1F</vt:lpwstr>
  </property>
  <property fmtid="{D5CDD505-2E9C-101B-9397-08002B2CF9AE}" pid="3" name="_ColorHex">
    <vt:lpwstr/>
  </property>
  <property fmtid="{D5CDD505-2E9C-101B-9397-08002B2CF9AE}" pid="4" name="_Emoji">
    <vt:lpwstr/>
  </property>
  <property fmtid="{D5CDD505-2E9C-101B-9397-08002B2CF9AE}" pid="5" name="ComplianceAssetId">
    <vt:lpwstr/>
  </property>
  <property fmtid="{D5CDD505-2E9C-101B-9397-08002B2CF9AE}" pid="6" name="_ColorTag">
    <vt:lpwstr/>
  </property>
  <property fmtid="{D5CDD505-2E9C-101B-9397-08002B2CF9AE}" pid="7" name="_activity">
    <vt:lpwstr>{"FileActivityType":"9","FileActivityTimeStamp":"2023-03-15T22:05:42.377Z","FileActivityUsersOnPage":[{"DisplayName":"Beckerle, Mike","Id":"mbeckerle@owlcyberdefense.com"}],"FileActivityNavigationId":null}</vt:lpwstr>
  </property>
  <property fmtid="{D5CDD505-2E9C-101B-9397-08002B2CF9AE}" pid="8" name="xd_Prog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GUID">
    <vt:lpwstr>9168c58c-4a65-49c7-bfad-dc0317203383</vt:lpwstr>
  </property>
  <property fmtid="{D5CDD505-2E9C-101B-9397-08002B2CF9AE}" pid="13" name="xd_Signature">
    <vt:bool>false</vt:bool>
  </property>
</Properties>
</file>
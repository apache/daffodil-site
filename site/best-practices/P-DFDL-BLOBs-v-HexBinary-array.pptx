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742" r:id="rId5"/>
    <p:sldId id="395" r:id="rId6"/>
    <p:sldId id="743" r:id="rId7"/>
    <p:sldId id="741" r:id="rId8"/>
    <p:sldId id="837" r:id="rId9"/>
    <p:sldId id="836" r:id="rId10"/>
  </p:sldIdLst>
  <p:sldSz cx="12192000" cy="6858000"/>
  <p:notesSz cx="6858000" cy="9144000"/>
  <p:embeddedFontLst>
    <p:embeddedFont>
      <p:font typeface="Noto Sans" panose="020B050204050402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B61E61-8FB2-CE41-73A2-D18C7201AEBA}" name="Beckerle, Mike" initials="MB" userId="S::mbeckerle@owlcyberdefense.com::41155a9a-513c-4288-9ceb-5c90f574ab21" providerId="AD"/>
  <p188:author id="{244309C5-15C3-A979-A70C-136C3B0AC25A}" name="Sood, Harinder" initials="SH" userId="S::hsood@owlcyberdefense.com::0ec8c5c7-03d2-48d0-9195-1c9ef9f6da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16315A"/>
    <a:srgbClr val="0D203D"/>
    <a:srgbClr val="E6E7E8"/>
    <a:srgbClr val="0D2035"/>
    <a:srgbClr val="0D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857113-CCE1-4EC8-8DE6-729D4D68471A}" v="1" dt="2025-11-19T14:12:51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2597" autoAdjust="0"/>
  </p:normalViewPr>
  <p:slideViewPr>
    <p:cSldViewPr snapToGrid="0" snapToObjects="1">
      <p:cViewPr varScale="1">
        <p:scale>
          <a:sx n="93" d="100"/>
          <a:sy n="93" d="100"/>
        </p:scale>
        <p:origin x="120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>
      <p:cViewPr varScale="1">
        <p:scale>
          <a:sx n="79" d="100"/>
          <a:sy n="79" d="100"/>
        </p:scale>
        <p:origin x="402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50A63-030B-4438-BE70-50EDBC0866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974D0-9B26-43B7-8963-F4122ECD15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6C127-A84A-41C1-BFB1-ED6D88031FE2}" type="datetimeFigureOut">
              <a:rPr lang="en-US" smtClean="0">
                <a:latin typeface="Noto Sans" panose="020B0502040504020204" pitchFamily="34" charset="0"/>
              </a:rPr>
              <a:t>12/22/2025</a:t>
            </a:fld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AB04E-AA39-4BDF-9C11-00567415CA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39012-E7C3-4A01-A659-BF6A28F591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20852-FEC4-42AD-B3FE-D542A75F8A1A}" type="slidenum">
              <a:rPr lang="en-US" smtClean="0">
                <a:latin typeface="Noto Sans" panose="020B0502040504020204" pitchFamily="34" charset="0"/>
              </a:rPr>
              <a:t>‹#›</a:t>
            </a:fld>
            <a:endParaRPr lang="en-US" dirty="0"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077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104331F3-F512-0241-93B1-4EC568B308ED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CF152513-84CE-DE4C-84E6-0C1BDA4E2D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CC361A-B8A4-4F6C-911A-E11358BCD83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0014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5484" y="125004"/>
            <a:ext cx="9654540" cy="68053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5482" y="1007950"/>
            <a:ext cx="11465923" cy="5135834"/>
          </a:xfrm>
        </p:spPr>
        <p:txBody>
          <a:bodyPr/>
          <a:lstStyle>
            <a:lvl1pPr marL="457189" indent="-457189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n-lt"/>
              </a:defRPr>
            </a:lvl1pPr>
            <a:lvl2pPr marL="990575" indent="-380990">
              <a:lnSpc>
                <a:spcPct val="100000"/>
              </a:lnSpc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</a:defRPr>
            </a:lvl2pPr>
            <a:lvl3pPr marL="1523962" indent="-304792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90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4725" y="124414"/>
            <a:ext cx="9516291" cy="72031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6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A128-6AE1-1741-A482-9A7A21FD7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0AA52-493D-5F4E-BEEE-BD2097AE8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DF31B-19A2-0341-BD19-CA852E61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E9A59-3F40-F444-BD0F-26E6D063A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0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hyperlink" Target="https://www.apache.org/licenses/LICENSE-2.0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09BB2-F79A-234D-8E9E-E1D20496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60" y="140254"/>
            <a:ext cx="9772131" cy="733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D83F1-A007-0E40-9860-7C73664E5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560" y="1404303"/>
            <a:ext cx="11365800" cy="4639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A2C13-ADE4-454D-A0F2-F3883FD2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2206" y="6376580"/>
            <a:ext cx="781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</a:defRPr>
            </a:lvl1pPr>
          </a:lstStyle>
          <a:p>
            <a:fld id="{E86E9A59-3F40-F444-BD0F-26E6D063A5F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AI-generated content may be incorrect.">
            <a:extLst>
              <a:ext uri="{FF2B5EF4-FFF2-40B4-BE49-F238E27FC236}">
                <a16:creationId xmlns:a16="http://schemas.microsoft.com/office/drawing/2014/main" id="{D476FC69-7F9A-14CE-4937-48E3A8F81D3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83925" y="6290557"/>
            <a:ext cx="930276" cy="488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02571-4629-40DC-3401-F80007F4B32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134600" y="140254"/>
            <a:ext cx="1868263" cy="3518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25BEF2-EF2E-E5C3-C2A5-00069AB7BBB3}"/>
              </a:ext>
            </a:extLst>
          </p:cNvPr>
          <p:cNvSpPr txBox="1"/>
          <p:nvPr userDrawn="1"/>
        </p:nvSpPr>
        <p:spPr>
          <a:xfrm>
            <a:off x="1175161" y="6382408"/>
            <a:ext cx="2704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Copyright © 2025 The Apache Software Foundation, </a:t>
            </a:r>
          </a:p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Licensed under the </a:t>
            </a:r>
            <a:r>
              <a:rPr lang="en-US" sz="800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7"/>
              </a:rPr>
              <a:t>Apache License, Version 2.0</a:t>
            </a:r>
            <a:endParaRPr lang="en-US" sz="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5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69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Noto Sans" panose="020B050204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B360FF-2A93-A805-401E-F665AEAB9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Data BLOBs in DFDL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7F20E8-D7BF-4012-40B4-58908C79B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572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D3E2A-2398-4E79-9D81-8E15BBE70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DFDL for Images and Video ??</a:t>
            </a:r>
          </a:p>
          <a:p>
            <a:pPr lvl="1"/>
            <a:r>
              <a:rPr lang="en-US" dirty="0"/>
              <a:t>This was originally not in scope for DFDL</a:t>
            </a:r>
          </a:p>
          <a:p>
            <a:r>
              <a:rPr lang="en-US" dirty="0"/>
              <a:t>Large demand to use DFDL on the metadata content of image file formats</a:t>
            </a:r>
          </a:p>
          <a:p>
            <a:endParaRPr lang="en-US" dirty="0"/>
          </a:p>
          <a:p>
            <a:r>
              <a:rPr lang="en-US" dirty="0"/>
              <a:t>How to skip the raw data parts?</a:t>
            </a:r>
          </a:p>
          <a:p>
            <a:pPr lvl="1"/>
            <a:r>
              <a:rPr lang="en-US" dirty="0"/>
              <a:t>They have to be preserved, but there's no parsing to be done.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8C9C7-285F-4B33-B706-E43EE921E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DFDL and Images</a:t>
            </a:r>
          </a:p>
        </p:txBody>
      </p:sp>
    </p:spTree>
    <p:extLst>
      <p:ext uri="{BB962C8B-B14F-4D97-AF65-F5344CB8AC3E}">
        <p14:creationId xmlns:p14="http://schemas.microsoft.com/office/powerpoint/2010/main" val="3835721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E1D387-DD40-A337-29F3-CAE8C02CD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Problematic: Large Element of </a:t>
            </a:r>
            <a:r>
              <a:rPr lang="en-US" dirty="0" err="1"/>
              <a:t>xs:hexBinary</a:t>
            </a:r>
            <a:r>
              <a:rPr lang="en-US" dirty="0"/>
              <a:t> type </a:t>
            </a:r>
          </a:p>
          <a:p>
            <a:pPr lvl="1"/>
            <a:r>
              <a:rPr lang="en-US" dirty="0"/>
              <a:t>Maximum size restricted by JVM (max Java object is 2G)</a:t>
            </a:r>
          </a:p>
          <a:p>
            <a:pPr lvl="1"/>
            <a:r>
              <a:rPr lang="en-US" dirty="0"/>
              <a:t>Text tools (viewers, editors, formatters) are text and line oriented.</a:t>
            </a:r>
          </a:p>
          <a:p>
            <a:pPr lvl="2"/>
            <a:r>
              <a:rPr lang="en-US" dirty="0"/>
              <a:t>Tend to crash or freeze on really long lines (megabytes long lines)</a:t>
            </a:r>
          </a:p>
          <a:p>
            <a:pPr lvl="1"/>
            <a:r>
              <a:rPr lang="en-US" i="1" dirty="0"/>
              <a:t>A major appeal of using text (XML, JSON) is you can just look at it with basic text tools!</a:t>
            </a:r>
          </a:p>
          <a:p>
            <a:pPr lvl="2"/>
            <a:r>
              <a:rPr lang="en-US" i="1" dirty="0"/>
              <a:t>Giant </a:t>
            </a:r>
            <a:r>
              <a:rPr lang="en-US" i="1" dirty="0" err="1"/>
              <a:t>hexBinary</a:t>
            </a:r>
            <a:r>
              <a:rPr lang="en-US" i="1" dirty="0"/>
              <a:t> elements make this impractical. </a:t>
            </a:r>
          </a:p>
          <a:p>
            <a:pPr lvl="1"/>
            <a:endParaRPr lang="en-US" i="1" dirty="0"/>
          </a:p>
          <a:p>
            <a:r>
              <a:rPr lang="en-US" dirty="0"/>
              <a:t>Preferred: Use Array of Elements of </a:t>
            </a:r>
            <a:r>
              <a:rPr lang="en-US" dirty="0" err="1"/>
              <a:t>xs:hexBinary</a:t>
            </a:r>
            <a:r>
              <a:rPr lang="en-US" dirty="0"/>
              <a:t> type</a:t>
            </a:r>
          </a:p>
          <a:p>
            <a:pPr lvl="1"/>
            <a:r>
              <a:rPr lang="en-US" dirty="0"/>
              <a:t>Each </a:t>
            </a:r>
            <a:r>
              <a:rPr lang="en-US" dirty="0" err="1"/>
              <a:t>xs:hexBinary</a:t>
            </a:r>
            <a:r>
              <a:rPr lang="en-US" dirty="0"/>
              <a:t> element is small (perhaps 64 bytes)</a:t>
            </a:r>
          </a:p>
          <a:p>
            <a:pPr lvl="1"/>
            <a:r>
              <a:rPr lang="en-US" dirty="0"/>
              <a:t>JVM objects are all small.</a:t>
            </a:r>
          </a:p>
          <a:p>
            <a:pPr lvl="1"/>
            <a:r>
              <a:rPr lang="en-US" dirty="0"/>
              <a:t>Text lines are kept short.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0C939-F0F8-016D-DCE7-E1B68709D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05FE69E-B9DB-27FA-B201-B14B85FBB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Binary BLOBs in DFDL</a:t>
            </a:r>
          </a:p>
        </p:txBody>
      </p:sp>
    </p:spTree>
    <p:extLst>
      <p:ext uri="{BB962C8B-B14F-4D97-AF65-F5344CB8AC3E}">
        <p14:creationId xmlns:p14="http://schemas.microsoft.com/office/powerpoint/2010/main" val="917633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8B0B88-56E2-C3C0-8C3C-40BD1CF15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04127"/>
            <a:ext cx="11605067" cy="5845452"/>
          </a:xfrm>
        </p:spPr>
        <p:txBody>
          <a:bodyPr>
            <a:normAutofit fontScale="32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&lt;element name="blob" </a:t>
            </a:r>
            <a:r>
              <a:rPr lang="en-US" sz="4900" b="1" dirty="0" err="1">
                <a:cs typeface="Courier New" panose="02070309020205020404" pitchFamily="49" charset="0"/>
              </a:rPr>
              <a:t>dfdl:lengthKind</a:t>
            </a:r>
            <a:r>
              <a:rPr lang="en-US" sz="4900" b="1" dirty="0">
                <a:cs typeface="Courier New" panose="02070309020205020404" pitchFamily="49" charset="0"/>
              </a:rPr>
              <a:t>="explicit" </a:t>
            </a:r>
            <a:r>
              <a:rPr lang="en-US" sz="4900" b="1" dirty="0" err="1">
                <a:cs typeface="Courier New" panose="02070309020205020404" pitchFamily="49" charset="0"/>
              </a:rPr>
              <a:t>dfdl:length</a:t>
            </a:r>
            <a:r>
              <a:rPr lang="en-US" sz="4900" b="1" dirty="0">
                <a:cs typeface="Courier New" panose="02070309020205020404" pitchFamily="49" charset="0"/>
              </a:rPr>
              <a:t>="..." 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  &lt;</a:t>
            </a:r>
            <a:r>
              <a:rPr lang="en-US" sz="4900" b="1" dirty="0" err="1">
                <a:cs typeface="Courier New" panose="02070309020205020404" pitchFamily="49" charset="0"/>
              </a:rPr>
              <a:t>complexType</a:t>
            </a:r>
            <a:r>
              <a:rPr lang="en-US" sz="4900" b="1" dirty="0"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     &lt;sequence&gt;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       &lt;element name="data" minOccurs="0" </a:t>
            </a:r>
            <a:r>
              <a:rPr lang="en-US" sz="4900" b="1" dirty="0" err="1">
                <a:cs typeface="Courier New" panose="02070309020205020404" pitchFamily="49" charset="0"/>
              </a:rPr>
              <a:t>maxOccurs</a:t>
            </a:r>
            <a:r>
              <a:rPr lang="en-US" sz="4900" b="1" dirty="0">
                <a:cs typeface="Courier New" panose="02070309020205020404" pitchFamily="49" charset="0"/>
              </a:rPr>
              <a:t>="</a:t>
            </a:r>
            <a:r>
              <a:rPr lang="en-US" sz="4900" b="1" i="0" dirty="0">
                <a:solidFill>
                  <a:srgbClr val="1F1F1F"/>
                </a:solidFill>
                <a:effectLst/>
                <a:cs typeface="Courier New" panose="02070309020205020404" pitchFamily="49" charset="0"/>
              </a:rPr>
              <a:t>1048576</a:t>
            </a:r>
            <a:r>
              <a:rPr lang="en-US" sz="4900" b="1" dirty="0">
                <a:cs typeface="Courier New" panose="02070309020205020404" pitchFamily="49" charset="0"/>
              </a:rPr>
              <a:t>" </a:t>
            </a:r>
            <a:r>
              <a:rPr lang="en-US" sz="4900" b="1" dirty="0" err="1">
                <a:cs typeface="Courier New" panose="02070309020205020404" pitchFamily="49" charset="0"/>
              </a:rPr>
              <a:t>dfdl:occursCountKind</a:t>
            </a:r>
            <a:r>
              <a:rPr lang="en-US" sz="4900" b="1" dirty="0">
                <a:cs typeface="Courier New" panose="02070309020205020404" pitchFamily="49" charset="0"/>
              </a:rPr>
              <a:t>="implicit"&gt;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           &lt;choice&gt;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              &lt;element name="line" type="</a:t>
            </a:r>
            <a:r>
              <a:rPr lang="en-US" sz="4900" b="1" dirty="0" err="1">
                <a:cs typeface="Courier New" panose="02070309020205020404" pitchFamily="49" charset="0"/>
              </a:rPr>
              <a:t>xs:hexBinary</a:t>
            </a:r>
            <a:r>
              <a:rPr lang="en-US" sz="4900" b="1" dirty="0">
                <a:cs typeface="Courier New" panose="02070309020205020404" pitchFamily="49" charset="0"/>
              </a:rPr>
              <a:t>" </a:t>
            </a:r>
            <a:r>
              <a:rPr lang="en-US" sz="4900" b="1" dirty="0" err="1">
                <a:cs typeface="Courier New" panose="02070309020205020404" pitchFamily="49" charset="0"/>
              </a:rPr>
              <a:t>dfdl:lengthKind</a:t>
            </a:r>
            <a:r>
              <a:rPr lang="en-US" sz="4900" b="1" dirty="0">
                <a:cs typeface="Courier New" panose="02070309020205020404" pitchFamily="49" charset="0"/>
              </a:rPr>
              <a:t>="explicit" </a:t>
            </a:r>
            <a:r>
              <a:rPr lang="en-US" sz="4900" b="1" dirty="0" err="1">
                <a:cs typeface="Courier New" panose="02070309020205020404" pitchFamily="49" charset="0"/>
              </a:rPr>
              <a:t>dfdl:length</a:t>
            </a:r>
            <a:r>
              <a:rPr lang="en-US" sz="4900" b="1" dirty="0">
                <a:cs typeface="Courier New" panose="02070309020205020404" pitchFamily="49" charset="0"/>
              </a:rPr>
              <a:t>="64"/&gt;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              &lt;element name="final" type="</a:t>
            </a:r>
            <a:r>
              <a:rPr lang="en-US" sz="4900" b="1" dirty="0" err="1">
                <a:cs typeface="Courier New" panose="02070309020205020404" pitchFamily="49" charset="0"/>
              </a:rPr>
              <a:t>pre:blobFinal</a:t>
            </a:r>
            <a:r>
              <a:rPr lang="en-US" sz="4900" b="1" dirty="0">
                <a:cs typeface="Courier New" panose="02070309020205020404" pitchFamily="49" charset="0"/>
              </a:rPr>
              <a:t>" </a:t>
            </a:r>
            <a:r>
              <a:rPr lang="en-US" sz="4900" b="1" dirty="0" err="1">
                <a:cs typeface="Courier New" panose="02070309020205020404" pitchFamily="49" charset="0"/>
              </a:rPr>
              <a:t>dfdl:lengthKind</a:t>
            </a:r>
            <a:r>
              <a:rPr lang="en-US" sz="4900" b="1" dirty="0">
                <a:cs typeface="Courier New" panose="02070309020205020404" pitchFamily="49" charset="0"/>
              </a:rPr>
              <a:t>="delimited"/&gt;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           &lt;/choice&gt;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         &lt;/element&gt;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     &lt;/sequence&gt;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   &lt;/</a:t>
            </a:r>
            <a:r>
              <a:rPr lang="en-US" sz="4900" b="1" dirty="0" err="1">
                <a:cs typeface="Courier New" panose="02070309020205020404" pitchFamily="49" charset="0"/>
              </a:rPr>
              <a:t>complexType</a:t>
            </a:r>
            <a:r>
              <a:rPr lang="en-US" sz="4900" b="1" dirty="0"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&lt;/element&gt;</a:t>
            </a:r>
          </a:p>
          <a:p>
            <a:pPr marL="0" indent="0">
              <a:spcBef>
                <a:spcPts val="300"/>
              </a:spcBef>
              <a:buNone/>
            </a:pPr>
            <a:endParaRPr lang="en-US" sz="4900" b="1" dirty="0"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&lt;</a:t>
            </a:r>
            <a:r>
              <a:rPr lang="en-US" sz="4900" b="1" dirty="0" err="1">
                <a:cs typeface="Courier New" panose="02070309020205020404" pitchFamily="49" charset="0"/>
              </a:rPr>
              <a:t>simpleType</a:t>
            </a:r>
            <a:r>
              <a:rPr lang="en-US" sz="4900" b="1" dirty="0">
                <a:cs typeface="Courier New" panose="02070309020205020404" pitchFamily="49" charset="0"/>
              </a:rPr>
              <a:t> name="</a:t>
            </a:r>
            <a:r>
              <a:rPr lang="en-US" sz="4900" b="1" dirty="0" err="1">
                <a:cs typeface="Courier New" panose="02070309020205020404" pitchFamily="49" charset="0"/>
              </a:rPr>
              <a:t>blobFinal</a:t>
            </a:r>
            <a:r>
              <a:rPr lang="en-US" sz="4900" b="1" dirty="0">
                <a:cs typeface="Courier New" panose="02070309020205020404" pitchFamily="49" charset="0"/>
              </a:rPr>
              <a:t>" </a:t>
            </a:r>
            <a:r>
              <a:rPr lang="en-US" sz="4900" b="1" dirty="0" err="1">
                <a:cs typeface="Courier New" panose="02070309020205020404" pitchFamily="49" charset="0"/>
              </a:rPr>
              <a:t>dfdl:encoding</a:t>
            </a:r>
            <a:r>
              <a:rPr lang="en-US" sz="4900" b="1" dirty="0">
                <a:cs typeface="Courier New" panose="02070309020205020404" pitchFamily="49" charset="0"/>
              </a:rPr>
              <a:t>="iso-8859-1"&gt;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   &lt;annotation&gt;&lt;</a:t>
            </a:r>
            <a:r>
              <a:rPr lang="en-US" sz="4900" b="1" dirty="0" err="1">
                <a:cs typeface="Courier New" panose="02070309020205020404" pitchFamily="49" charset="0"/>
              </a:rPr>
              <a:t>appinfo</a:t>
            </a:r>
            <a:r>
              <a:rPr lang="en-US" sz="4900" b="1" dirty="0">
                <a:cs typeface="Courier New" panose="02070309020205020404" pitchFamily="49" charset="0"/>
              </a:rPr>
              <a:t> source="http://www.ogf.org/dfdl/"&gt;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      &lt;</a:t>
            </a:r>
            <a:r>
              <a:rPr lang="en-US" sz="4900" b="1" dirty="0" err="1">
                <a:cs typeface="Courier New" panose="02070309020205020404" pitchFamily="49" charset="0"/>
              </a:rPr>
              <a:t>dfdl:assert</a:t>
            </a:r>
            <a:r>
              <a:rPr lang="en-US" sz="4900" b="1" dirty="0">
                <a:cs typeface="Courier New" panose="02070309020205020404" pitchFamily="49" charset="0"/>
              </a:rPr>
              <a:t> test="{ </a:t>
            </a:r>
            <a:r>
              <a:rPr lang="en-US" sz="4900" b="1" dirty="0" err="1">
                <a:cs typeface="Courier New" panose="02070309020205020404" pitchFamily="49" charset="0"/>
              </a:rPr>
              <a:t>dfdl:checkConstraints</a:t>
            </a:r>
            <a:r>
              <a:rPr lang="en-US" sz="4900" b="1" dirty="0">
                <a:cs typeface="Courier New" panose="02070309020205020404" pitchFamily="49" charset="0"/>
              </a:rPr>
              <a:t>(.) }" /&gt;&lt;!-- length facets below required for parse --&gt;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   &lt;/</a:t>
            </a:r>
            <a:r>
              <a:rPr lang="en-US" sz="4900" b="1" dirty="0" err="1">
                <a:cs typeface="Courier New" panose="02070309020205020404" pitchFamily="49" charset="0"/>
              </a:rPr>
              <a:t>appinfo</a:t>
            </a:r>
            <a:r>
              <a:rPr lang="en-US" sz="4900" b="1" dirty="0">
                <a:cs typeface="Courier New" panose="02070309020205020404" pitchFamily="49" charset="0"/>
              </a:rPr>
              <a:t>&gt;&lt;/annotation&gt;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   &lt;restriction base="</a:t>
            </a:r>
            <a:r>
              <a:rPr lang="en-US" sz="4900" b="1" dirty="0" err="1">
                <a:cs typeface="Courier New" panose="02070309020205020404" pitchFamily="49" charset="0"/>
              </a:rPr>
              <a:t>xs:hexBinary</a:t>
            </a:r>
            <a:r>
              <a:rPr lang="en-US" sz="4900" b="1" dirty="0">
                <a:cs typeface="Courier New" panose="02070309020205020404" pitchFamily="49" charset="0"/>
              </a:rPr>
              <a:t>"&gt;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      &lt;</a:t>
            </a:r>
            <a:r>
              <a:rPr lang="en-US" sz="4900" b="1" dirty="0" err="1">
                <a:cs typeface="Courier New" panose="02070309020205020404" pitchFamily="49" charset="0"/>
              </a:rPr>
              <a:t>minLength</a:t>
            </a:r>
            <a:r>
              <a:rPr lang="en-US" sz="4900" b="1" dirty="0">
                <a:cs typeface="Courier New" panose="02070309020205020404" pitchFamily="49" charset="0"/>
              </a:rPr>
              <a:t> value="1"&gt;&lt;!-- must be at least 1 byte --&gt;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      &lt;</a:t>
            </a:r>
            <a:r>
              <a:rPr lang="en-US" sz="4900" b="1" dirty="0" err="1">
                <a:cs typeface="Courier New" panose="02070309020205020404" pitchFamily="49" charset="0"/>
              </a:rPr>
              <a:t>maxLength</a:t>
            </a:r>
            <a:r>
              <a:rPr lang="en-US" sz="4900" b="1" dirty="0">
                <a:cs typeface="Courier New" panose="02070309020205020404" pitchFamily="49" charset="0"/>
              </a:rPr>
              <a:t> value="63"/&gt; &lt;!-- must be shorter than 64 bytes --&gt;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  &lt;/restriction&gt;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4900" b="1" dirty="0">
                <a:cs typeface="Courier New" panose="02070309020205020404" pitchFamily="49" charset="0"/>
              </a:rPr>
              <a:t>&lt;/</a:t>
            </a:r>
            <a:r>
              <a:rPr lang="en-US" sz="4900" b="1" dirty="0" err="1">
                <a:cs typeface="Courier New" panose="02070309020205020404" pitchFamily="49" charset="0"/>
              </a:rPr>
              <a:t>simpleType</a:t>
            </a:r>
            <a:r>
              <a:rPr lang="en-US" sz="4900" b="1" dirty="0"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CA633-A73A-F520-EC3D-34904C84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59328B-DAD8-E8A6-53EF-AB2B8929D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BLOB as Array of </a:t>
            </a:r>
            <a:r>
              <a:rPr lang="en-US" dirty="0" err="1"/>
              <a:t>HexBinary</a:t>
            </a:r>
            <a:r>
              <a:rPr lang="en-US" dirty="0"/>
              <a:t> Elements</a:t>
            </a:r>
          </a:p>
        </p:txBody>
      </p:sp>
    </p:spTree>
    <p:extLst>
      <p:ext uri="{BB962C8B-B14F-4D97-AF65-F5344CB8AC3E}">
        <p14:creationId xmlns:p14="http://schemas.microsoft.com/office/powerpoint/2010/main" val="3418334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B3D2D-3278-7C16-9B6E-B49DADB8A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E209C2-1DF4-670E-C388-3E18C4026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84" y="125004"/>
            <a:ext cx="9654540" cy="680539"/>
          </a:xfrm>
        </p:spPr>
        <p:txBody>
          <a:bodyPr/>
          <a:lstStyle/>
          <a:p>
            <a:r>
              <a:rPr lang="en-US" dirty="0"/>
              <a:t>BLOB as Array of </a:t>
            </a:r>
            <a:r>
              <a:rPr lang="en-US" dirty="0" err="1"/>
              <a:t>HexBinary</a:t>
            </a:r>
            <a:r>
              <a:rPr lang="en-US" dirty="0"/>
              <a:t> Elements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43ED95-F23B-E0CA-27D5-B283B572F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8" y="1008063"/>
            <a:ext cx="11466512" cy="51355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Blob looks like this in XML:</a:t>
            </a:r>
          </a:p>
          <a:p>
            <a:pPr marL="0" indent="0">
              <a:buNone/>
            </a:pPr>
            <a:endParaRPr lang="en-US" dirty="0"/>
          </a:p>
          <a:p>
            <a:pPr marL="609585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&lt;blob&gt;</a:t>
            </a:r>
          </a:p>
          <a:p>
            <a:pPr marL="609585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&lt;data&gt;&lt;line&gt;93fbac37 ... bf&lt;/line&gt;&lt;/data&gt;</a:t>
            </a:r>
          </a:p>
          <a:p>
            <a:pPr marL="609585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&lt;data&gt;&lt;line&gt;fc8c3439 ... ab&lt;/line&gt;&lt;/data&gt;</a:t>
            </a:r>
          </a:p>
          <a:p>
            <a:pPr marL="609585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... more lines ...</a:t>
            </a:r>
          </a:p>
          <a:p>
            <a:pPr marL="609585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&lt;data&gt;&lt;final&gt;a93821&lt;/final&gt;&lt;/data&gt;</a:t>
            </a:r>
          </a:p>
          <a:p>
            <a:pPr marL="609585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&lt;/blob&gt;</a:t>
            </a:r>
          </a:p>
          <a:p>
            <a:pPr marL="533399" indent="-457200"/>
            <a:endParaRPr lang="en-US" dirty="0"/>
          </a:p>
          <a:p>
            <a:pPr marL="533399" indent="-457200"/>
            <a:r>
              <a:rPr lang="en-US" dirty="0"/>
              <a:t>Tool and text editor friendly</a:t>
            </a:r>
          </a:p>
          <a:p>
            <a:pPr marL="533399" indent="-457200"/>
            <a:r>
              <a:rPr lang="en-US" dirty="0"/>
              <a:t>Does not need large JVM objects</a:t>
            </a:r>
          </a:p>
          <a:p>
            <a:pPr marL="533399" indent="-457200"/>
            <a:r>
              <a:rPr lang="en-US" i="1" dirty="0"/>
              <a:t>Note: Parse/</a:t>
            </a:r>
            <a:r>
              <a:rPr lang="en-US" i="1" dirty="0" err="1"/>
              <a:t>Unparse</a:t>
            </a:r>
            <a:r>
              <a:rPr lang="en-US" i="1" dirty="0"/>
              <a:t> speed - slower than 1 large object</a:t>
            </a:r>
          </a:p>
          <a:p>
            <a:pPr marL="609585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A6682-AA1A-91A0-8542-315001DB0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206" y="6376580"/>
            <a:ext cx="781594" cy="365125"/>
          </a:xfrm>
        </p:spPr>
        <p:txBody>
          <a:bodyPr/>
          <a:lstStyle/>
          <a:p>
            <a:fld id="{222C6BF1-6423-496B-B3DA-CA30B590FFC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750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660F-895F-B52A-7CDD-A16347003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Daffodil BLOB Extension for DFDL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762D3-1156-1949-E636-00C24FE94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Possible alternative</a:t>
            </a:r>
          </a:p>
          <a:p>
            <a:r>
              <a:rPr lang="en-US" dirty="0"/>
              <a:t>Writes blob data out to external file to avoid processing it as text (XML, JSON, etc.)</a:t>
            </a:r>
          </a:p>
          <a:p>
            <a:pPr lvl="1"/>
            <a:r>
              <a:rPr lang="en-US" dirty="0"/>
              <a:t>Blob bits are not part of the </a:t>
            </a:r>
            <a:r>
              <a:rPr lang="en-US" dirty="0" err="1"/>
              <a:t>infoset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A temp filename is present in the </a:t>
            </a:r>
            <a:r>
              <a:rPr lang="en-US" dirty="0" err="1"/>
              <a:t>infoset</a:t>
            </a:r>
            <a:r>
              <a:rPr lang="en-US" dirty="0"/>
              <a:t> instead.</a:t>
            </a:r>
          </a:p>
          <a:p>
            <a:r>
              <a:rPr lang="en-US" dirty="0"/>
              <a:t>Caution: may not be supported by daffodil applications</a:t>
            </a:r>
          </a:p>
          <a:p>
            <a:pPr lvl="1"/>
            <a:r>
              <a:rPr lang="en-US" dirty="0"/>
              <a:t>requires temp file space, temp file management, etc.</a:t>
            </a:r>
          </a:p>
          <a:p>
            <a:endParaRPr lang="en-US" dirty="0"/>
          </a:p>
          <a:p>
            <a:r>
              <a:rPr lang="en-US" dirty="0"/>
              <a:t>See Daffodil Extensions Documentation</a:t>
            </a:r>
          </a:p>
          <a:p>
            <a:pPr lvl="1"/>
            <a:r>
              <a:rPr lang="en-US" dirty="0"/>
              <a:t>on web: daffodil.apache.org/binary-large-objects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7150C-ED6C-FFDD-557C-E8723FA4A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864689"/>
      </p:ext>
    </p:extLst>
  </p:cSld>
  <p:clrMapOvr>
    <a:masterClrMapping/>
  </p:clrMapOvr>
</p:sld>
</file>

<file path=ppt/theme/theme1.xml><?xml version="1.0" encoding="utf-8"?>
<a:theme xmlns:a="http://schemas.openxmlformats.org/drawingml/2006/main" name="Owl Tresys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70C0"/>
      </a:folHlink>
    </a:clrScheme>
    <a:fontScheme name="Noto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F-Daffodil-Powerpoint-Template.potx" id="{1B7B6B17-DD1C-4004-B1C8-A6B0E304C607}" vid="{E90DA38C-6206-4BBE-99F8-A6461D89AE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43770EEE52CD41AF88844CFD8CFC1F" ma:contentTypeVersion="19" ma:contentTypeDescription="Create a new document." ma:contentTypeScope="" ma:versionID="087aef2dacdf576614e125d015e2f287">
  <xsd:schema xmlns:xsd="http://www.w3.org/2001/XMLSchema" xmlns:xs="http://www.w3.org/2001/XMLSchema" xmlns:p="http://schemas.microsoft.com/office/2006/metadata/properties" xmlns:ns2="213a615a-fc15-48a4-b44f-57f78f25f7bf" xmlns:ns3="7ec4416c-5e17-4e82-a7de-d59c1ce11d89" targetNamespace="http://schemas.microsoft.com/office/2006/metadata/properties" ma:root="true" ma:fieldsID="aeb5c1f92c1e7d75cf293137a4dd3c28" ns2:_="" ns3:_="">
    <xsd:import namespace="213a615a-fc15-48a4-b44f-57f78f25f7bf"/>
    <xsd:import namespace="7ec4416c-5e17-4e82-a7de-d59c1ce11d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615a-fc15-48a4-b44f-57f78f25f7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4416c-5e17-4e82-a7de-d59c1ce11d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E6E0BF-F4A0-41B6-8685-63FD81E4D1BE}">
  <ds:schemaRefs>
    <ds:schemaRef ds:uri="7ec4416c-5e17-4e82-a7de-d59c1ce11d89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213a615a-fc15-48a4-b44f-57f78f25f7bf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6448888-D94F-46D3-B5EF-CF8AC221F7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3a615a-fc15-48a4-b44f-57f78f25f7bf"/>
    <ds:schemaRef ds:uri="7ec4416c-5e17-4e82-a7de-d59c1ce11d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870CC1-235C-4BD8-A628-EDFC5A270D0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ASF-Daffodil-Powerpoint-Template</Template>
  <TotalTime>44</TotalTime>
  <Words>568</Words>
  <Application>Microsoft Office PowerPoint</Application>
  <PresentationFormat>Widescreen</PresentationFormat>
  <Paragraphs>71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Courier New</vt:lpstr>
      <vt:lpstr>Calibri</vt:lpstr>
      <vt:lpstr>Arial</vt:lpstr>
      <vt:lpstr>Noto Sans</vt:lpstr>
      <vt:lpstr>Wingdings</vt:lpstr>
      <vt:lpstr>Owl Tresys</vt:lpstr>
      <vt:lpstr>Large Data BLOBs in DFDL</vt:lpstr>
      <vt:lpstr>DFDL and Images</vt:lpstr>
      <vt:lpstr>Modeling Binary BLOBs in DFDL</vt:lpstr>
      <vt:lpstr>BLOB as Array of HexBinary Elements</vt:lpstr>
      <vt:lpstr>BLOB as Array of HexBinary Elements</vt:lpstr>
      <vt:lpstr>Daffodil BLOB Extension for DFDL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Beckerle, Mike</dc:creator>
  <cp:lastModifiedBy>Beckerle, Mike</cp:lastModifiedBy>
  <cp:revision>1</cp:revision>
  <dcterms:created xsi:type="dcterms:W3CDTF">2025-12-22T18:34:52Z</dcterms:created>
  <dcterms:modified xsi:type="dcterms:W3CDTF">2025-12-22T19:19:12Z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0x010100AA43770EEE52CD41AF88844CFD8CFC1F</vt:lpwstr>
  </property>
  <property fmtid="{D5CDD505-2E9C-101B-9397-08002B2CF9AE}" pid="3" name="_ColorHex">
    <vt:lpwstr/>
  </property>
  <property fmtid="{D5CDD505-2E9C-101B-9397-08002B2CF9AE}" pid="4" name="_Emoji">
    <vt:lpwstr/>
  </property>
  <property fmtid="{D5CDD505-2E9C-101B-9397-08002B2CF9AE}" pid="5" name="ComplianceAssetId">
    <vt:lpwstr/>
  </property>
  <property fmtid="{D5CDD505-2E9C-101B-9397-08002B2CF9AE}" pid="6" name="_ColorTag">
    <vt:lpwstr/>
  </property>
  <property fmtid="{D5CDD505-2E9C-101B-9397-08002B2CF9AE}" pid="7" name="_activity">
    <vt:lpwstr>{"FileActivityType":"9","FileActivityTimeStamp":"2023-03-15T22:05:42.377Z","FileActivityUsersOnPage":[{"DisplayName":"Beckerle, Mike","Id":"mbeckerle@owlcyberdefense.com"}],"FileActivityNavigationId":null}</vt:lpwstr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GUID">
    <vt:lpwstr>9168c58c-4a65-49c7-bfad-dc0317203383</vt:lpwstr>
  </property>
  <property fmtid="{D5CDD505-2E9C-101B-9397-08002B2CF9AE}" pid="13" name="xd_Signature">
    <vt:bool>false</vt:bool>
  </property>
</Properties>
</file>
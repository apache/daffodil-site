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64" r:id="rId5"/>
    <p:sldId id="740" r:id="rId6"/>
    <p:sldId id="265" r:id="rId7"/>
  </p:sldIdLst>
  <p:sldSz cx="12192000" cy="6858000"/>
  <p:notesSz cx="6858000" cy="9144000"/>
  <p:embeddedFontLst>
    <p:embeddedFont>
      <p:font typeface="Noto Sans" panose="020B05020405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3"/>
          <p:cNvSpPr txBox="1"/>
          <p:nvPr/>
        </p:nvSpPr>
        <p:spPr>
          <a:xfrm>
            <a:off x="2057520" y="640080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>
              <a:lnSpc>
                <a:spcPct val="100000"/>
              </a:lnSpc>
            </a:pPr>
            <a:endParaRPr lang="en-US" sz="1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530DB-DC4B-AAD6-39C2-7A08BC44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84" y="125004"/>
            <a:ext cx="9654540" cy="680539"/>
          </a:xfrm>
        </p:spPr>
        <p:txBody>
          <a:bodyPr/>
          <a:lstStyle/>
          <a:p>
            <a:r>
              <a:rPr lang="en-US" dirty="0"/>
              <a:t>Reject Elements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2D2E77-44B8-96F7-EA3B-5E0957E3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82" y="1007950"/>
            <a:ext cx="11465923" cy="513583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Reject element means...</a:t>
            </a:r>
          </a:p>
          <a:p>
            <a:pPr lvl="1"/>
            <a:r>
              <a:rPr lang="en-US" dirty="0"/>
              <a:t>Part of the data didn't parse</a:t>
            </a:r>
          </a:p>
          <a:p>
            <a:pPr lvl="1"/>
            <a:r>
              <a:rPr lang="en-US" dirty="0"/>
              <a:t>Able to determine where it is, and its length</a:t>
            </a:r>
          </a:p>
          <a:p>
            <a:pPr lvl="1"/>
            <a:r>
              <a:rPr lang="en-US" dirty="0"/>
              <a:t>Create element as </a:t>
            </a:r>
            <a:r>
              <a:rPr lang="en-US" dirty="0" err="1"/>
              <a:t>hexBinary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Ex: &lt;unknown&gt;090809afb9028ff&lt;/unknown&gt;</a:t>
            </a:r>
          </a:p>
          <a:p>
            <a:pPr lvl="1"/>
            <a:endParaRPr lang="en-US" dirty="0"/>
          </a:p>
          <a:p>
            <a:r>
              <a:rPr lang="en-US" dirty="0"/>
              <a:t>Should these be allowed?</a:t>
            </a:r>
          </a:p>
          <a:p>
            <a:pPr lvl="1"/>
            <a:r>
              <a:rPr lang="en-US" dirty="0"/>
              <a:t>Maybe yes: if there are a small number of reject records</a:t>
            </a:r>
          </a:p>
          <a:p>
            <a:pPr lvl="2"/>
            <a:r>
              <a:rPr lang="en-US" dirty="0"/>
              <a:t>A reasonable thing some file formats may allow</a:t>
            </a:r>
          </a:p>
          <a:p>
            <a:pPr lvl="1"/>
            <a:r>
              <a:rPr lang="en-US" dirty="0"/>
              <a:t>Clearly no: if there are no non-reject records. </a:t>
            </a:r>
          </a:p>
          <a:p>
            <a:pPr lvl="2"/>
            <a:r>
              <a:rPr lang="en-US" dirty="0"/>
              <a:t>If the file parses to all or mostly rejects then probably the schema is incorrect. </a:t>
            </a:r>
          </a:p>
          <a:p>
            <a:endParaRPr lang="en-US" dirty="0"/>
          </a:p>
          <a:p>
            <a:r>
              <a:rPr lang="en-US" dirty="0"/>
              <a:t>Sometimes it is a matter of degree!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3589A0-2D8C-4AFA-BF95-5C9FFBDE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206" y="6376580"/>
            <a:ext cx="781594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22905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1F49F1-D9F9-4843-43F1-487298D9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84" y="125004"/>
            <a:ext cx="9654540" cy="680539"/>
          </a:xfrm>
        </p:spPr>
        <p:txBody>
          <a:bodyPr/>
          <a:lstStyle/>
          <a:p>
            <a:r>
              <a:rPr lang="en-US" dirty="0"/>
              <a:t>Reject Elements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847EA-43C4-60AB-90E6-C3DD0A5F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82" y="1007950"/>
            <a:ext cx="11465923" cy="513583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want a reject element to be </a:t>
            </a:r>
          </a:p>
          <a:p>
            <a:pPr lvl="1"/>
            <a:r>
              <a:rPr lang="en-US" dirty="0"/>
              <a:t>well-formed</a:t>
            </a:r>
          </a:p>
          <a:p>
            <a:pPr lvl="1"/>
            <a:r>
              <a:rPr lang="en-US" dirty="0"/>
              <a:t>always invalid</a:t>
            </a:r>
          </a:p>
          <a:p>
            <a:pPr lvl="1"/>
            <a:endParaRPr lang="en-US" dirty="0"/>
          </a:p>
          <a:p>
            <a:r>
              <a:rPr lang="en-US" dirty="0"/>
              <a:t>XSD Trick</a:t>
            </a:r>
          </a:p>
          <a:p>
            <a:pPr marL="609585" lvl="1" indent="0">
              <a:buNone/>
            </a:pPr>
            <a:r>
              <a:rPr lang="en-US" dirty="0"/>
              <a:t>&lt;element name="unknown"&gt;</a:t>
            </a:r>
          </a:p>
          <a:p>
            <a:pPr marL="609585" lvl="1" indent="0">
              <a:buNone/>
            </a:pPr>
            <a:r>
              <a:rPr lang="en-US" dirty="0"/>
              <a:t>  &lt;</a:t>
            </a:r>
            <a:r>
              <a:rPr lang="en-US" dirty="0" err="1"/>
              <a:t>simpleType</a:t>
            </a:r>
            <a:r>
              <a:rPr lang="en-US" dirty="0"/>
              <a:t>&gt;</a:t>
            </a:r>
          </a:p>
          <a:p>
            <a:pPr marL="609585" lvl="1" indent="0">
              <a:buNone/>
            </a:pPr>
            <a:r>
              <a:rPr lang="en-US" dirty="0"/>
              <a:t>    &lt;restriction base="</a:t>
            </a:r>
            <a:r>
              <a:rPr lang="en-US" dirty="0" err="1"/>
              <a:t>xs:hexBinary</a:t>
            </a:r>
            <a:r>
              <a:rPr lang="en-US" dirty="0"/>
              <a:t>"</a:t>
            </a:r>
          </a:p>
          <a:p>
            <a:pPr marL="609585" lvl="1" indent="0">
              <a:buNone/>
            </a:pPr>
            <a:r>
              <a:rPr lang="en-US" dirty="0"/>
              <a:t>       &lt;</a:t>
            </a:r>
            <a:r>
              <a:rPr lang="en-US" dirty="0" err="1"/>
              <a:t>maxLength</a:t>
            </a:r>
            <a:r>
              <a:rPr lang="en-US" dirty="0"/>
              <a:t> value="0"/&gt; &lt;!-- always invalid --&gt; </a:t>
            </a:r>
          </a:p>
          <a:p>
            <a:pPr marL="609585" lvl="1" indent="0">
              <a:buNone/>
            </a:pPr>
            <a:r>
              <a:rPr lang="en-US" dirty="0"/>
              <a:t>    &lt;/restriction&gt;</a:t>
            </a:r>
          </a:p>
          <a:p>
            <a:pPr marL="609585" lvl="1" indent="0">
              <a:buNone/>
            </a:pPr>
            <a:r>
              <a:rPr lang="en-US" dirty="0"/>
              <a:t>  &lt;/</a:t>
            </a:r>
            <a:r>
              <a:rPr lang="en-US" dirty="0" err="1"/>
              <a:t>simpleType</a:t>
            </a:r>
            <a:r>
              <a:rPr lang="en-US" dirty="0"/>
              <a:t>&gt;</a:t>
            </a:r>
          </a:p>
          <a:p>
            <a:pPr marL="609585" lvl="1" indent="0">
              <a:buNone/>
            </a:pPr>
            <a:r>
              <a:rPr lang="en-US" dirty="0"/>
              <a:t>&lt;/element&gt;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C6CB-8EB1-9471-35EF-8C0CEFFB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206" y="6376580"/>
            <a:ext cx="781594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90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E3549-4DE1-3EE1-10C7-AE2D10E60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84" y="125004"/>
            <a:ext cx="9654540" cy="680539"/>
          </a:xfrm>
        </p:spPr>
        <p:txBody>
          <a:bodyPr/>
          <a:lstStyle/>
          <a:p>
            <a:r>
              <a:rPr lang="en-US" dirty="0"/>
              <a:t>Reject Elements: Use them or not?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54F4B-C065-9695-576C-E89EE01DF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82" y="1007950"/>
            <a:ext cx="11465923" cy="5135834"/>
          </a:xfrm>
        </p:spPr>
        <p:txBody>
          <a:bodyPr>
            <a:normAutofit/>
          </a:bodyPr>
          <a:lstStyle/>
          <a:p>
            <a:r>
              <a:rPr lang="en-US" dirty="0"/>
              <a:t>You can put them into the DFDL Schema</a:t>
            </a:r>
          </a:p>
          <a:p>
            <a:r>
              <a:rPr lang="en-US" dirty="0"/>
              <a:t>Leave it up to the application whether to use</a:t>
            </a:r>
          </a:p>
          <a:p>
            <a:r>
              <a:rPr lang="en-US" dirty="0"/>
              <a:t>Use a DFDL variable with external="true" to control whether DFDL schema parse will create them or not. 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dfdl:assert</a:t>
            </a:r>
            <a:r>
              <a:rPr lang="en-US" dirty="0"/>
              <a:t> can test that the variable is true. If not parse fails.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EE33DB-8E88-4A0C-8595-FBC956A8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2206" y="6376580"/>
            <a:ext cx="781594" cy="365125"/>
          </a:xfrm>
        </p:spPr>
        <p:txBody>
          <a:bodyPr/>
          <a:lstStyle/>
          <a:p>
            <a:fld id="{222C6BF1-6423-496B-B3DA-CA30B590FFC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7474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12</TotalTime>
  <Words>215</Words>
  <Application>Microsoft Office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Times New Roman</vt:lpstr>
      <vt:lpstr>Noto Sans</vt:lpstr>
      <vt:lpstr>Arial</vt:lpstr>
      <vt:lpstr>Wingdings</vt:lpstr>
      <vt:lpstr>Owl Tresys</vt:lpstr>
      <vt:lpstr>Reject Elements</vt:lpstr>
      <vt:lpstr>Reject Elements</vt:lpstr>
      <vt:lpstr>Reject Elements: Use them or not?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2025-12-22T19:32:38Z</dcterms:created>
  <dcterms:modified xsi:type="dcterms:W3CDTF">2025-12-22T19:45:28Z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
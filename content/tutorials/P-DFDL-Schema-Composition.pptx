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740" r:id="rId5"/>
    <p:sldId id="699" r:id="rId6"/>
    <p:sldId id="742" r:id="rId7"/>
    <p:sldId id="741" r:id="rId8"/>
    <p:sldId id="743" r:id="rId9"/>
  </p:sldIdLst>
  <p:sldSz cx="12192000" cy="6858000"/>
  <p:notesSz cx="6858000" cy="9144000"/>
  <p:embeddedFontLst>
    <p:embeddedFont>
      <p:font typeface="Noto Sans" panose="020B05020405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57113-CCE1-4EC8-8DE6-729D4D68471A}" v="1" dt="2025-11-19T14:12:5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11/19/2025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A128-6AE1-1741-A482-9A7A21FD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0AA52-493D-5F4E-BEEE-BD2097AE8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F31B-19A2-0341-BD19-CA852E61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0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hyperlink" Target="https://www.apache.org/licenses/LICENSE-2.0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7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6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DE0A7-D802-C575-B61B-54337641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91" y="2615632"/>
            <a:ext cx="11024443" cy="2718368"/>
          </a:xfrm>
        </p:spPr>
        <p:txBody>
          <a:bodyPr>
            <a:normAutofit fontScale="90000"/>
          </a:bodyPr>
          <a:lstStyle/>
          <a:p>
            <a:r>
              <a:rPr lang="en-US" dirty="0"/>
              <a:t>DFDL Schema Composition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Multi-part Schema Assemblies from Component Schemas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33992-A2F1-A0A5-4B9E-1A2789A7E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091" y="966125"/>
            <a:ext cx="11024443" cy="1500187"/>
          </a:xfrm>
        </p:spPr>
        <p:txBody>
          <a:bodyPr/>
          <a:lstStyle/>
          <a:p>
            <a:r>
              <a:rPr lang="en-US" dirty="0"/>
              <a:t>Header/Envelope + Payload Schema Assemblies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FF965-8FF3-4E80-0CA1-8D478AF1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88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991D17-63CF-42A0-A03E-736DA156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Some formats naturally split into separate </a:t>
            </a:r>
            <a:r>
              <a:rPr lang="en-US" i="1" dirty="0"/>
              <a:t>reusable</a:t>
            </a:r>
            <a:r>
              <a:rPr lang="en-US" dirty="0"/>
              <a:t> DFDL schemas</a:t>
            </a:r>
          </a:p>
          <a:p>
            <a:endParaRPr lang="en-US" dirty="0"/>
          </a:p>
          <a:p>
            <a:r>
              <a:rPr lang="en-US" dirty="0"/>
              <a:t>Terminology:</a:t>
            </a:r>
          </a:p>
          <a:p>
            <a:pPr lvl="1"/>
            <a:r>
              <a:rPr lang="en-US" dirty="0"/>
              <a:t>Component Schemas</a:t>
            </a:r>
          </a:p>
          <a:p>
            <a:pPr lvl="1"/>
            <a:r>
              <a:rPr lang="en-US" dirty="0"/>
              <a:t>Assembly Schemas - put together multiple components</a:t>
            </a:r>
          </a:p>
          <a:p>
            <a:pPr lvl="2"/>
            <a:r>
              <a:rPr lang="en-US" dirty="0"/>
              <a:t>can themselves be components in larger assemblies</a:t>
            </a:r>
          </a:p>
          <a:p>
            <a:pPr marL="609585" lvl="1" indent="0">
              <a:buNone/>
            </a:pPr>
            <a:endParaRPr lang="en-US" dirty="0"/>
          </a:p>
          <a:p>
            <a:r>
              <a:rPr lang="en-US" dirty="0"/>
              <a:t>For example: Header + Payload</a:t>
            </a:r>
          </a:p>
          <a:p>
            <a:pPr lvl="1"/>
            <a:r>
              <a:rPr lang="en-US" dirty="0"/>
              <a:t>Header format is shared by many different payload formats</a:t>
            </a:r>
          </a:p>
          <a:p>
            <a:pPr lvl="1"/>
            <a:r>
              <a:rPr lang="en-US" dirty="0"/>
              <a:t>MIL-STD-2045 (</a:t>
            </a:r>
            <a:r>
              <a:rPr lang="en-US" dirty="0" err="1"/>
              <a:t>github</a:t>
            </a:r>
            <a:r>
              <a:rPr lang="en-US" dirty="0"/>
              <a:t>) is a header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693995-BD86-40A2-A531-571FA721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Multi-Part DFDL Schemas</a:t>
            </a:r>
          </a:p>
        </p:txBody>
      </p:sp>
    </p:spTree>
    <p:extLst>
      <p:ext uri="{BB962C8B-B14F-4D97-AF65-F5344CB8AC3E}">
        <p14:creationId xmlns:p14="http://schemas.microsoft.com/office/powerpoint/2010/main" val="133779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991D17-63CF-42A0-A03E-736DA156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DFDL schemas are packaged as jars, and work just like Java jar files</a:t>
            </a:r>
          </a:p>
          <a:p>
            <a:r>
              <a:rPr lang="en-US" dirty="0"/>
              <a:t>Automated dependency management assembles schema </a:t>
            </a:r>
          </a:p>
          <a:p>
            <a:pPr lvl="1"/>
            <a:r>
              <a:rPr lang="en-US" dirty="0"/>
              <a:t>From dependencies on other DFDL schemas</a:t>
            </a:r>
          </a:p>
          <a:p>
            <a:pPr lvl="1"/>
            <a:r>
              <a:rPr lang="en-US" dirty="0"/>
              <a:t>From dependencies on Daffodil plug-ins</a:t>
            </a:r>
          </a:p>
          <a:p>
            <a:pPr lvl="2"/>
            <a:r>
              <a:rPr lang="en-US" dirty="0"/>
              <a:t>user defined function libraries</a:t>
            </a:r>
          </a:p>
          <a:p>
            <a:pPr lvl="2"/>
            <a:r>
              <a:rPr lang="en-US" dirty="0"/>
              <a:t>layer libraries</a:t>
            </a:r>
          </a:p>
          <a:p>
            <a:pPr lvl="2"/>
            <a:r>
              <a:rPr lang="en-US" dirty="0"/>
              <a:t>charset encoder/decoder libraries</a:t>
            </a:r>
          </a:p>
          <a:p>
            <a:pPr lvl="1"/>
            <a:r>
              <a:rPr lang="en-US" dirty="0"/>
              <a:t>Java/JVM CLASSPATH is searched (in order) for files of multi-file schemas</a:t>
            </a:r>
          </a:p>
          <a:p>
            <a:r>
              <a:rPr lang="en-US" dirty="0"/>
              <a:t>Dependencies are resolved transitively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693995-BD86-40A2-A531-571FA721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Multi-Part DFDL Schemas</a:t>
            </a:r>
          </a:p>
        </p:txBody>
      </p:sp>
    </p:spTree>
    <p:extLst>
      <p:ext uri="{BB962C8B-B14F-4D97-AF65-F5344CB8AC3E}">
        <p14:creationId xmlns:p14="http://schemas.microsoft.com/office/powerpoint/2010/main" val="39001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D4AD0-A3C3-4773-5AA7-D3EED4579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4728980"/>
            <a:ext cx="11605067" cy="1838036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DFDLSchemas</a:t>
            </a:r>
            <a:r>
              <a:rPr lang="en-US" dirty="0"/>
              <a:t> envelope-payload (on </a:t>
            </a:r>
            <a:r>
              <a:rPr lang="en-US" dirty="0" err="1"/>
              <a:t>github</a:t>
            </a:r>
            <a:r>
              <a:rPr lang="en-US" dirty="0"/>
              <a:t>) assembles 4 schemas together</a:t>
            </a:r>
          </a:p>
          <a:p>
            <a:pPr lvl="1"/>
            <a:r>
              <a:rPr lang="en-US" dirty="0" err="1"/>
              <a:t>tcpMessage</a:t>
            </a:r>
            <a:r>
              <a:rPr lang="en-US" dirty="0"/>
              <a:t> - header</a:t>
            </a:r>
          </a:p>
          <a:p>
            <a:pPr lvl="1"/>
            <a:r>
              <a:rPr lang="en-US" dirty="0"/>
              <a:t>MIL-STD-2045 - header</a:t>
            </a:r>
          </a:p>
          <a:p>
            <a:pPr lvl="1"/>
            <a:r>
              <a:rPr lang="en-US" dirty="0"/>
              <a:t>PCAP</a:t>
            </a:r>
          </a:p>
          <a:p>
            <a:pPr lvl="2"/>
            <a:r>
              <a:rPr lang="en-US" dirty="0"/>
              <a:t>Is itself an assembly using the </a:t>
            </a:r>
            <a:r>
              <a:rPr lang="en-US" dirty="0" err="1"/>
              <a:t>EthernetIP</a:t>
            </a:r>
            <a:r>
              <a:rPr lang="en-US" dirty="0"/>
              <a:t> schema as a component</a:t>
            </a:r>
          </a:p>
          <a:p>
            <a:pPr lvl="2"/>
            <a:r>
              <a:rPr lang="en-US" dirty="0" err="1"/>
              <a:t>EthernetIP</a:t>
            </a:r>
            <a:r>
              <a:rPr lang="en-US" dirty="0"/>
              <a:t> - uses Daffodil Layers (extension of DFDL) to compute IPv4 checksum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59FA4-99DF-9E23-8661-FCCD0A50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CAD682-0DD8-6FAA-031A-E854E8FC4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Envelope-Payload Schema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36BC1-1231-7B11-C1CF-A2A017CE3895}"/>
              </a:ext>
            </a:extLst>
          </p:cNvPr>
          <p:cNvSpPr/>
          <p:nvPr/>
        </p:nvSpPr>
        <p:spPr>
          <a:xfrm>
            <a:off x="578484" y="1357746"/>
            <a:ext cx="1533236" cy="24383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tcpMessage</a:t>
            </a:r>
            <a:endParaRPr lang="en-US" dirty="0"/>
          </a:p>
          <a:p>
            <a:pPr algn="ctr"/>
            <a:r>
              <a:rPr lang="en-US" dirty="0"/>
              <a:t>(header)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A7B0D-4B32-184E-F0EB-F35737F72B67}"/>
              </a:ext>
            </a:extLst>
          </p:cNvPr>
          <p:cNvSpPr/>
          <p:nvPr/>
        </p:nvSpPr>
        <p:spPr>
          <a:xfrm>
            <a:off x="2111718" y="1357746"/>
            <a:ext cx="9365671" cy="50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tcpMessage</a:t>
            </a:r>
            <a:r>
              <a:rPr lang="en-US" dirty="0"/>
              <a:t> (payload)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CFCC0D-440A-6E5E-0124-A3512112CD25}"/>
              </a:ext>
            </a:extLst>
          </p:cNvPr>
          <p:cNvSpPr/>
          <p:nvPr/>
        </p:nvSpPr>
        <p:spPr>
          <a:xfrm>
            <a:off x="2231792" y="1958109"/>
            <a:ext cx="1754909" cy="183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MIL-STD-2045</a:t>
            </a:r>
          </a:p>
          <a:p>
            <a:pPr algn="ctr"/>
            <a:r>
              <a:rPr lang="en-US" dirty="0"/>
              <a:t>(header)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534AC7-BDB0-889A-C17D-6BCFB372F27F}"/>
              </a:ext>
            </a:extLst>
          </p:cNvPr>
          <p:cNvSpPr/>
          <p:nvPr/>
        </p:nvSpPr>
        <p:spPr>
          <a:xfrm>
            <a:off x="4106773" y="2475346"/>
            <a:ext cx="1366982" cy="120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CBA86-82E5-6C4D-D1D1-76458F731867}"/>
              </a:ext>
            </a:extLst>
          </p:cNvPr>
          <p:cNvSpPr/>
          <p:nvPr/>
        </p:nvSpPr>
        <p:spPr>
          <a:xfrm>
            <a:off x="3986700" y="1960418"/>
            <a:ext cx="7490689" cy="422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MIL-STD-2045 (payload)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83B13-3C82-775D-1DA5-869C38F9F5DE}"/>
              </a:ext>
            </a:extLst>
          </p:cNvPr>
          <p:cNvSpPr/>
          <p:nvPr/>
        </p:nvSpPr>
        <p:spPr>
          <a:xfrm>
            <a:off x="4106773" y="2470727"/>
            <a:ext cx="1366982" cy="1316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PCAP</a:t>
            </a:r>
          </a:p>
          <a:p>
            <a:pPr algn="ctr"/>
            <a:r>
              <a:rPr lang="en-US" dirty="0"/>
              <a:t>(envelope)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9114F-CCBC-AA10-1464-FA1CF97BA4F1}"/>
              </a:ext>
            </a:extLst>
          </p:cNvPr>
          <p:cNvSpPr/>
          <p:nvPr/>
        </p:nvSpPr>
        <p:spPr>
          <a:xfrm>
            <a:off x="5473756" y="2466110"/>
            <a:ext cx="6003634" cy="609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PCAP (payload)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0BA774-6CF8-FC9B-BD5D-C0DB6A8F540E}"/>
              </a:ext>
            </a:extLst>
          </p:cNvPr>
          <p:cNvSpPr/>
          <p:nvPr/>
        </p:nvSpPr>
        <p:spPr>
          <a:xfrm>
            <a:off x="5538408" y="3172692"/>
            <a:ext cx="1366982" cy="609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ethernetIP</a:t>
            </a:r>
            <a:r>
              <a:rPr lang="en-US" dirty="0"/>
              <a:t> (payload)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F9CF1-BE3E-84FC-6872-45551E6007DA}"/>
              </a:ext>
            </a:extLst>
          </p:cNvPr>
          <p:cNvSpPr/>
          <p:nvPr/>
        </p:nvSpPr>
        <p:spPr>
          <a:xfrm>
            <a:off x="6905390" y="3177309"/>
            <a:ext cx="1366982" cy="609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ethernetIP</a:t>
            </a:r>
            <a:r>
              <a:rPr lang="en-US" dirty="0"/>
              <a:t> (payload)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EEB395-C02F-1D66-F945-E8287A30B045}"/>
              </a:ext>
            </a:extLst>
          </p:cNvPr>
          <p:cNvSpPr/>
          <p:nvPr/>
        </p:nvSpPr>
        <p:spPr>
          <a:xfrm>
            <a:off x="10110408" y="3186543"/>
            <a:ext cx="1366982" cy="609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ethernetIP</a:t>
            </a:r>
            <a:r>
              <a:rPr lang="en-US" dirty="0"/>
              <a:t> (payload)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1F475F-AAB8-4255-73CA-DE5966348C2C}"/>
              </a:ext>
            </a:extLst>
          </p:cNvPr>
          <p:cNvSpPr/>
          <p:nvPr/>
        </p:nvSpPr>
        <p:spPr>
          <a:xfrm>
            <a:off x="8272372" y="3181926"/>
            <a:ext cx="1838036" cy="609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...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93AAFE4D-6F25-CA51-5C63-992EA374F16B}"/>
              </a:ext>
            </a:extLst>
          </p:cNvPr>
          <p:cNvSpPr/>
          <p:nvPr/>
        </p:nvSpPr>
        <p:spPr>
          <a:xfrm>
            <a:off x="5637982" y="3964856"/>
            <a:ext cx="4087909" cy="750273"/>
          </a:xfrm>
          <a:prstGeom prst="wedgeRoundRectCallout">
            <a:avLst>
              <a:gd name="adj1" fmla="val -24642"/>
              <a:gd name="adj2" fmla="val -74723"/>
              <a:gd name="adj3" fmla="val 16667"/>
            </a:avLst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for each </a:t>
            </a:r>
            <a:r>
              <a:rPr lang="en-US" dirty="0" err="1">
                <a:solidFill>
                  <a:schemeClr val="tx1"/>
                </a:solidFill>
              </a:rPr>
              <a:t>ethernetIP</a:t>
            </a:r>
            <a:r>
              <a:rPr lang="en-US" dirty="0">
                <a:solidFill>
                  <a:schemeClr val="tx1"/>
                </a:solidFill>
              </a:rPr>
              <a:t>, if an IPv4 packet, then it has a checksum</a:t>
            </a:r>
          </a:p>
        </p:txBody>
      </p:sp>
    </p:spTree>
    <p:extLst>
      <p:ext uri="{BB962C8B-B14F-4D97-AF65-F5344CB8AC3E}">
        <p14:creationId xmlns:p14="http://schemas.microsoft.com/office/powerpoint/2010/main" val="4285170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D92CC-A717-0CC5-43C6-C79A91C1F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DFDL Schemas are not being published to Maven Central</a:t>
            </a:r>
          </a:p>
          <a:p>
            <a:pPr lvl="1"/>
            <a:r>
              <a:rPr lang="en-US" dirty="0"/>
              <a:t>You must obtain and package them locally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59BB3-ED77-77C9-4384-3A976492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EC19C7-2F59-02EA-9A7F-09964ADAF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(As of 2025-11-19)</a:t>
            </a:r>
          </a:p>
        </p:txBody>
      </p:sp>
    </p:spTree>
    <p:extLst>
      <p:ext uri="{BB962C8B-B14F-4D97-AF65-F5344CB8AC3E}">
        <p14:creationId xmlns:p14="http://schemas.microsoft.com/office/powerpoint/2010/main" val="773372576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ffodil-DFDL-Template.pptx" id="{AEAA4738-33A3-4C82-A6B7-BB73C2C23E30}" vid="{79552CB8-BE4D-4D39-BC3E-F4ABDC2286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1</TotalTime>
  <Words>254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Noto Sans</vt:lpstr>
      <vt:lpstr>Wingdings</vt:lpstr>
      <vt:lpstr>Arial</vt:lpstr>
      <vt:lpstr>Owl Tresys</vt:lpstr>
      <vt:lpstr>DFDL Schema Composition  Multi-part Schema Assemblies from Component Schemas</vt:lpstr>
      <vt:lpstr>Multi-Part DFDL Schemas</vt:lpstr>
      <vt:lpstr>Multi-Part DFDL Schemas</vt:lpstr>
      <vt:lpstr>Envelope-Payload Schema</vt:lpstr>
      <vt:lpstr>Limitations (As of 2025-11-19)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2025-11-20T03:08:44Z</dcterms:created>
  <dcterms:modified xsi:type="dcterms:W3CDTF">2025-11-20T03:10:42Z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
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4"/>
  </p:sldMasterIdLst>
  <p:notesMasterIdLst>
    <p:notesMasterId r:id="rId7"/>
  </p:notesMasterIdLst>
  <p:handoutMasterIdLst>
    <p:handoutMasterId r:id="rId8"/>
  </p:handoutMasterIdLst>
  <p:sldIdLst>
    <p:sldId id="256" r:id="rId5"/>
    <p:sldId id="257" r:id="rId6"/>
  </p:sldIdLst>
  <p:sldSz cx="12192000" cy="6858000"/>
  <p:notesSz cx="6858000" cy="9144000"/>
  <p:embeddedFontLst>
    <p:embeddedFont>
      <p:font typeface="Noto Sans" panose="020B0502040504020204" pitchFamily="3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B61E61-8FB2-CE41-73A2-D18C7201AEBA}" name="Beckerle, Mike" initials="MB" userId="S::mbeckerle@owlcyberdefense.com::41155a9a-513c-4288-9ceb-5c90f574ab21" providerId="AD"/>
  <p188:author id="{244309C5-15C3-A979-A70C-136C3B0AC25A}" name="Sood, Harinder" initials="SH" userId="S::hsood@owlcyberdefense.com::0ec8c5c7-03d2-48d0-9195-1c9ef9f6da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16315A"/>
    <a:srgbClr val="0D203D"/>
    <a:srgbClr val="E6E7E8"/>
    <a:srgbClr val="0D2035"/>
    <a:srgbClr val="0D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857113-CCE1-4EC8-8DE6-729D4D68471A}" v="1" dt="2025-11-19T14:12:51.0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597" autoAdjust="0"/>
  </p:normalViewPr>
  <p:slideViewPr>
    <p:cSldViewPr snapToGrid="0" snapToObjects="1">
      <p:cViewPr varScale="1">
        <p:scale>
          <a:sx n="93" d="100"/>
          <a:sy n="93" d="100"/>
        </p:scale>
        <p:origin x="1212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napToObjects="1">
      <p:cViewPr varScale="1">
        <p:scale>
          <a:sx n="79" d="100"/>
          <a:sy n="79" d="100"/>
        </p:scale>
        <p:origin x="402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250A63-030B-4438-BE70-50EDBC0866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3974D0-9B26-43B7-8963-F4122ECD15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6C127-A84A-41C1-BFB1-ED6D88031FE2}" type="datetimeFigureOut">
              <a:rPr lang="en-US" smtClean="0">
                <a:latin typeface="Noto Sans" panose="020B0502040504020204" pitchFamily="34" charset="0"/>
              </a:rPr>
              <a:t>11/21/2025</a:t>
            </a:fld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AB04E-AA39-4BDF-9C11-00567415CA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39012-E7C3-4A01-A659-BF6A28F591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20852-FEC4-42AD-B3FE-D542A75F8A1A}" type="slidenum">
              <a:rPr lang="en-US" smtClean="0">
                <a:latin typeface="Noto Sans" panose="020B0502040504020204" pitchFamily="34" charset="0"/>
              </a:rPr>
              <a:t>‹#›</a:t>
            </a:fld>
            <a:endParaRPr lang="en-US" dirty="0">
              <a:latin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077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104331F3-F512-0241-93B1-4EC568B308ED}" type="datetimeFigureOut">
              <a:rPr lang="en-US" smtClean="0"/>
              <a:pPr/>
              <a:t>11/21/2025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CF152513-84CE-DE4C-84E6-0C1BDA4E2D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4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4725" y="124414"/>
            <a:ext cx="9516291" cy="72031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fld id="{E87A9C04-9BE2-4A9F-A3FE-72B969880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36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349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apache.org/licenses/LICENSE-2.0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09BB2-F79A-234D-8E9E-E1D204967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60" y="140254"/>
            <a:ext cx="9772131" cy="733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D83F1-A007-0E40-9860-7C73664E5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560" y="1404303"/>
            <a:ext cx="11365800" cy="4639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A2C13-ADE4-454D-A0F2-F3883FD2D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2206" y="6376580"/>
            <a:ext cx="781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</a:defRPr>
            </a:lvl1pPr>
          </a:lstStyle>
          <a:p>
            <a:fld id="{E86E9A59-3F40-F444-BD0F-26E6D063A5F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AI-generated content may be incorrect.">
            <a:extLst>
              <a:ext uri="{FF2B5EF4-FFF2-40B4-BE49-F238E27FC236}">
                <a16:creationId xmlns:a16="http://schemas.microsoft.com/office/drawing/2014/main" id="{D476FC69-7F9A-14CE-4937-48E3A8F81D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83925" y="6290557"/>
            <a:ext cx="930276" cy="4883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002571-4629-40DC-3401-F80007F4B32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134600" y="140254"/>
            <a:ext cx="1868263" cy="3518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25BEF2-EF2E-E5C3-C2A5-00069AB7BBB3}"/>
              </a:ext>
            </a:extLst>
          </p:cNvPr>
          <p:cNvSpPr txBox="1"/>
          <p:nvPr userDrawn="1"/>
        </p:nvSpPr>
        <p:spPr>
          <a:xfrm>
            <a:off x="1175161" y="6382408"/>
            <a:ext cx="2704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Copyright © 2025 The Apache Software Foundation, </a:t>
            </a:r>
          </a:p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Licensed under the </a:t>
            </a:r>
            <a:r>
              <a:rPr lang="en-US" sz="800" u="sng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6"/>
              </a:rPr>
              <a:t>Apache License, Version 2.0</a:t>
            </a:r>
            <a:endParaRPr lang="en-US" sz="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5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6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Noto Sans" panose="020B05020405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5"/>
          <p:cNvSpPr txBox="1"/>
          <p:nvPr/>
        </p:nvSpPr>
        <p:spPr>
          <a:xfrm>
            <a:off x="101659" y="6400179"/>
            <a:ext cx="609105" cy="36485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939A17FB-5492-449A-A7B8-437ACCF48251}" type="slidenum">
              <a:rPr lang="en-US" sz="1451" b="1" spc="-1">
                <a:solidFill>
                  <a:srgbClr val="18434E"/>
                </a:solidFill>
                <a:latin typeface="Noto Sans"/>
              </a:rPr>
              <a:t>1</a:t>
            </a:fld>
            <a:endParaRPr lang="en-US" sz="1451" spc="-1">
              <a:latin typeface="Times New Roman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51BD19E-1145-3796-9357-6A82244A2860}"/>
              </a:ext>
            </a:extLst>
          </p:cNvPr>
          <p:cNvGrpSpPr/>
          <p:nvPr/>
        </p:nvGrpSpPr>
        <p:grpSpPr>
          <a:xfrm>
            <a:off x="257963" y="350921"/>
            <a:ext cx="11323092" cy="5889036"/>
            <a:chOff x="213120" y="290160"/>
            <a:chExt cx="9362520" cy="4869360"/>
          </a:xfrm>
        </p:grpSpPr>
        <p:sp>
          <p:nvSpPr>
            <p:cNvPr id="85" name="CustomShape 1"/>
            <p:cNvSpPr/>
            <p:nvPr/>
          </p:nvSpPr>
          <p:spPr>
            <a:xfrm>
              <a:off x="752400" y="4274640"/>
              <a:ext cx="8172720" cy="423360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/>
            </a:gra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 sz="2177"/>
            </a:p>
          </p:txBody>
        </p:sp>
        <p:sp>
          <p:nvSpPr>
            <p:cNvPr id="86" name="CustomShape 2"/>
            <p:cNvSpPr/>
            <p:nvPr/>
          </p:nvSpPr>
          <p:spPr>
            <a:xfrm>
              <a:off x="752400" y="3351240"/>
              <a:ext cx="8172720" cy="423360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/>
            </a:gra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 sz="2177"/>
            </a:p>
          </p:txBody>
        </p:sp>
        <p:sp>
          <p:nvSpPr>
            <p:cNvPr id="87" name="CustomShape 3"/>
            <p:cNvSpPr/>
            <p:nvPr/>
          </p:nvSpPr>
          <p:spPr>
            <a:xfrm>
              <a:off x="738360" y="1483560"/>
              <a:ext cx="8172720" cy="423360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/>
            </a:gra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 sz="2177"/>
            </a:p>
          </p:txBody>
        </p:sp>
        <p:sp>
          <p:nvSpPr>
            <p:cNvPr id="88" name="TextShape 4"/>
            <p:cNvSpPr txBox="1"/>
            <p:nvPr/>
          </p:nvSpPr>
          <p:spPr>
            <a:xfrm>
              <a:off x="504000" y="290160"/>
              <a:ext cx="9071640" cy="46548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77500" lnSpcReduction="20000"/>
            </a:bodyPr>
            <a:lstStyle/>
            <a:p>
              <a:pPr>
                <a:lnSpc>
                  <a:spcPct val="100000"/>
                </a:lnSpc>
              </a:pPr>
              <a:r>
                <a:rPr lang="en-US" sz="4838" b="1" spc="-1">
                  <a:solidFill>
                    <a:srgbClr val="000000"/>
                  </a:solidFill>
                  <a:latin typeface="Noto Sans"/>
                </a:rPr>
                <a:t>What makes fixed-length data so hard?</a:t>
              </a:r>
              <a:endParaRPr lang="en-US" sz="4838" spc="-1">
                <a:solidFill>
                  <a:srgbClr val="000000"/>
                </a:solidFill>
                <a:latin typeface="Calibri Light"/>
              </a:endParaRPr>
            </a:p>
          </p:txBody>
        </p:sp>
        <p:sp>
          <p:nvSpPr>
            <p:cNvPr id="90" name="CustomShape 6"/>
            <p:cNvSpPr/>
            <p:nvPr/>
          </p:nvSpPr>
          <p:spPr>
            <a:xfrm>
              <a:off x="738360" y="1547280"/>
              <a:ext cx="1408680" cy="310320"/>
            </a:xfrm>
            <a:prstGeom prst="rect">
              <a:avLst/>
            </a:prstGeom>
            <a:solidFill>
              <a:schemeClr val="bg1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A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91" name="CustomShape 7"/>
            <p:cNvSpPr/>
            <p:nvPr/>
          </p:nvSpPr>
          <p:spPr>
            <a:xfrm>
              <a:off x="2147760" y="1547280"/>
              <a:ext cx="2411280" cy="310320"/>
            </a:xfrm>
            <a:prstGeom prst="rect">
              <a:avLst/>
            </a:prstGeom>
            <a:solidFill>
              <a:schemeClr val="bg1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B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92" name="CustomShape 8"/>
            <p:cNvSpPr/>
            <p:nvPr/>
          </p:nvSpPr>
          <p:spPr>
            <a:xfrm>
              <a:off x="4559400" y="1547280"/>
              <a:ext cx="1110960" cy="310320"/>
            </a:xfrm>
            <a:prstGeom prst="rect">
              <a:avLst/>
            </a:prstGeom>
            <a:solidFill>
              <a:schemeClr val="bg1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C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93" name="CustomShape 9"/>
            <p:cNvSpPr/>
            <p:nvPr/>
          </p:nvSpPr>
          <p:spPr>
            <a:xfrm>
              <a:off x="752400" y="3414600"/>
              <a:ext cx="1408680" cy="310320"/>
            </a:xfrm>
            <a:prstGeom prst="rect">
              <a:avLst/>
            </a:prstGeom>
            <a:solidFill>
              <a:schemeClr val="bg1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A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94" name="CustomShape 10"/>
            <p:cNvSpPr/>
            <p:nvPr/>
          </p:nvSpPr>
          <p:spPr>
            <a:xfrm>
              <a:off x="2161440" y="3414600"/>
              <a:ext cx="2411280" cy="310320"/>
            </a:xfrm>
            <a:prstGeom prst="rect">
              <a:avLst/>
            </a:prstGeom>
            <a:solidFill>
              <a:schemeClr val="bg1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B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95" name="CustomShape 11"/>
            <p:cNvSpPr/>
            <p:nvPr/>
          </p:nvSpPr>
          <p:spPr>
            <a:xfrm>
              <a:off x="4573080" y="3414600"/>
              <a:ext cx="1110960" cy="310320"/>
            </a:xfrm>
            <a:prstGeom prst="rect">
              <a:avLst/>
            </a:prstGeom>
            <a:solidFill>
              <a:schemeClr val="bg1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C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96" name="CustomShape 12"/>
            <p:cNvSpPr/>
            <p:nvPr/>
          </p:nvSpPr>
          <p:spPr>
            <a:xfrm>
              <a:off x="5670720" y="1547280"/>
              <a:ext cx="3240360" cy="310320"/>
            </a:xfrm>
            <a:prstGeom prst="rect">
              <a:avLst/>
            </a:prstGeom>
            <a:pattFill prst="wdUpDiag">
              <a:fgClr>
                <a:srgbClr val="37669F"/>
              </a:fgClr>
              <a:bgClr>
                <a:srgbClr val="FFFFFF"/>
              </a:bgClr>
            </a:patt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Unused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97" name="CustomShape 13"/>
            <p:cNvSpPr/>
            <p:nvPr/>
          </p:nvSpPr>
          <p:spPr>
            <a:xfrm>
              <a:off x="444240" y="1177920"/>
              <a:ext cx="5734440" cy="3639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108847" tIns="54423" rIns="108847" bIns="54423"/>
            <a:lstStyle/>
            <a:p>
              <a:pPr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Original Fixed-length message with A, B, C fields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98" name="CustomShape 14"/>
            <p:cNvSpPr/>
            <p:nvPr/>
          </p:nvSpPr>
          <p:spPr>
            <a:xfrm>
              <a:off x="214200" y="2244240"/>
              <a:ext cx="8906040" cy="912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108847" tIns="54423" rIns="108847" bIns="54423"/>
            <a:lstStyle/>
            <a:p>
              <a:pPr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Requirements evolve - want to add D, E fields, but be backward compatable</a:t>
              </a:r>
              <a:endParaRPr lang="en-US" sz="2177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Add flag bits (X) at end of current data. 0 = original, 1 = extended.</a:t>
              </a:r>
              <a:endParaRPr lang="en-US" sz="2177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So add at the end. But they won't fit.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99" name="CustomShape 15"/>
            <p:cNvSpPr/>
            <p:nvPr/>
          </p:nvSpPr>
          <p:spPr>
            <a:xfrm>
              <a:off x="7104600" y="2890080"/>
              <a:ext cx="2031120" cy="310320"/>
            </a:xfrm>
            <a:prstGeom prst="rect">
              <a:avLst/>
            </a:prstGeom>
            <a:solidFill>
              <a:schemeClr val="bg1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E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00" name="CustomShape 16"/>
            <p:cNvSpPr/>
            <p:nvPr/>
          </p:nvSpPr>
          <p:spPr>
            <a:xfrm>
              <a:off x="5993280" y="2890080"/>
              <a:ext cx="1110960" cy="310320"/>
            </a:xfrm>
            <a:prstGeom prst="rect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D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01" name="CustomShape 17"/>
            <p:cNvSpPr/>
            <p:nvPr/>
          </p:nvSpPr>
          <p:spPr>
            <a:xfrm>
              <a:off x="5695560" y="2890080"/>
              <a:ext cx="297000" cy="310320"/>
            </a:xfrm>
            <a:prstGeom prst="rect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X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02" name="CustomShape 18"/>
            <p:cNvSpPr/>
            <p:nvPr/>
          </p:nvSpPr>
          <p:spPr>
            <a:xfrm>
              <a:off x="423000" y="3872160"/>
              <a:ext cx="6571080" cy="3639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108847" tIns="54423" rIns="108847" bIns="54423"/>
            <a:lstStyle/>
            <a:p>
              <a:pPr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Ah ha! Turns out when D, E, are in use, B is not needed.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03" name="CustomShape 19"/>
            <p:cNvSpPr/>
            <p:nvPr/>
          </p:nvSpPr>
          <p:spPr>
            <a:xfrm>
              <a:off x="8755920" y="2624040"/>
              <a:ext cx="613440" cy="1335240"/>
            </a:xfrm>
            <a:prstGeom prst="ellipse">
              <a:avLst/>
            </a:prstGeom>
            <a:noFill/>
            <a:ln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 sz="2177"/>
            </a:p>
          </p:txBody>
        </p:sp>
        <p:sp>
          <p:nvSpPr>
            <p:cNvPr id="104" name="CustomShape 20"/>
            <p:cNvSpPr/>
            <p:nvPr/>
          </p:nvSpPr>
          <p:spPr>
            <a:xfrm rot="16200000" flipH="1">
              <a:off x="6569280" y="1105200"/>
              <a:ext cx="283680" cy="4088880"/>
            </a:xfrm>
            <a:prstGeom prst="curvedConnector2">
              <a:avLst/>
            </a:prstGeom>
            <a:noFill/>
            <a:ln w="19080">
              <a:solidFill>
                <a:srgbClr val="FF0000"/>
              </a:solidFill>
              <a:rou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 sz="2177"/>
            </a:p>
          </p:txBody>
        </p:sp>
        <p:sp>
          <p:nvSpPr>
            <p:cNvPr id="105" name="CustomShape 21"/>
            <p:cNvSpPr/>
            <p:nvPr/>
          </p:nvSpPr>
          <p:spPr>
            <a:xfrm>
              <a:off x="752400" y="4338000"/>
              <a:ext cx="1408680" cy="310320"/>
            </a:xfrm>
            <a:prstGeom prst="rect">
              <a:avLst/>
            </a:prstGeom>
            <a:solidFill>
              <a:schemeClr val="bg1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A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06" name="CustomShape 22"/>
            <p:cNvSpPr/>
            <p:nvPr/>
          </p:nvSpPr>
          <p:spPr>
            <a:xfrm>
              <a:off x="2161440" y="4338000"/>
              <a:ext cx="2411280" cy="310320"/>
            </a:xfrm>
            <a:prstGeom prst="rect">
              <a:avLst/>
            </a:prstGeom>
            <a:pattFill prst="wdUpDiag">
              <a:fgClr>
                <a:srgbClr val="37669F"/>
              </a:fgClr>
              <a:bgClr>
                <a:srgbClr val="FFFFFF"/>
              </a:bgClr>
            </a:patt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B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07" name="CustomShape 23"/>
            <p:cNvSpPr/>
            <p:nvPr/>
          </p:nvSpPr>
          <p:spPr>
            <a:xfrm>
              <a:off x="4573080" y="4338000"/>
              <a:ext cx="1110960" cy="310320"/>
            </a:xfrm>
            <a:prstGeom prst="rect">
              <a:avLst/>
            </a:prstGeom>
            <a:solidFill>
              <a:schemeClr val="bg1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C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08" name="CustomShape 24"/>
            <p:cNvSpPr/>
            <p:nvPr/>
          </p:nvSpPr>
          <p:spPr>
            <a:xfrm>
              <a:off x="213120" y="4795560"/>
              <a:ext cx="7580160" cy="3639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108847" tIns="54423" rIns="108847" bIns="54423"/>
            <a:lstStyle/>
            <a:p>
              <a:pPr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So we re-purpose B's space to hold E for the extended message.</a:t>
              </a:r>
              <a:endParaRPr lang="en-US" sz="2177" spc="-1">
                <a:latin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Shape 3"/>
          <p:cNvSpPr txBox="1"/>
          <p:nvPr/>
        </p:nvSpPr>
        <p:spPr>
          <a:xfrm>
            <a:off x="609755" y="350921"/>
            <a:ext cx="10971300" cy="562955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77500" lnSpcReduction="20000"/>
          </a:bodyPr>
          <a:lstStyle/>
          <a:p>
            <a:pPr>
              <a:lnSpc>
                <a:spcPct val="100000"/>
              </a:lnSpc>
            </a:pPr>
            <a:r>
              <a:rPr lang="en-US" sz="4838" b="1" spc="-1">
                <a:solidFill>
                  <a:srgbClr val="000000"/>
                </a:solidFill>
                <a:latin typeface="Noto Sans"/>
              </a:rPr>
              <a:t>What makes fixed-length data so hard?</a:t>
            </a:r>
            <a:endParaRPr lang="en-US" sz="4838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2" name="TextShape 4"/>
          <p:cNvSpPr txBox="1"/>
          <p:nvPr/>
        </p:nvSpPr>
        <p:spPr>
          <a:xfrm>
            <a:off x="101659" y="6400179"/>
            <a:ext cx="609105" cy="36485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CD13E7A8-CD5E-4FB0-9E55-B5B1BB07D755}" type="slidenum">
              <a:rPr lang="en-US" sz="1451" b="1" spc="-1">
                <a:solidFill>
                  <a:srgbClr val="18434E"/>
                </a:solidFill>
                <a:latin typeface="Noto Sans"/>
              </a:rPr>
              <a:t>2</a:t>
            </a:fld>
            <a:endParaRPr lang="en-US" sz="1451" spc="-1">
              <a:latin typeface="Times New Roman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8988E58-8F79-14C5-5EEC-8FE0B8219C71}"/>
              </a:ext>
            </a:extLst>
          </p:cNvPr>
          <p:cNvGrpSpPr/>
          <p:nvPr/>
        </p:nvGrpSpPr>
        <p:grpSpPr>
          <a:xfrm>
            <a:off x="604530" y="1171189"/>
            <a:ext cx="10202843" cy="4588537"/>
            <a:chOff x="499680" y="968400"/>
            <a:chExt cx="8436240" cy="3794040"/>
          </a:xfrm>
        </p:grpSpPr>
        <p:sp>
          <p:nvSpPr>
            <p:cNvPr id="109" name="CustomShape 1"/>
            <p:cNvSpPr/>
            <p:nvPr/>
          </p:nvSpPr>
          <p:spPr>
            <a:xfrm>
              <a:off x="752400" y="2896560"/>
              <a:ext cx="8172720" cy="772560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/>
            </a:gra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 sz="2177"/>
            </a:p>
          </p:txBody>
        </p:sp>
        <p:sp>
          <p:nvSpPr>
            <p:cNvPr id="110" name="CustomShape 2"/>
            <p:cNvSpPr/>
            <p:nvPr/>
          </p:nvSpPr>
          <p:spPr>
            <a:xfrm>
              <a:off x="752400" y="1528200"/>
              <a:ext cx="8172720" cy="433440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/>
            </a:gra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 sz="2177"/>
            </a:p>
          </p:txBody>
        </p:sp>
        <p:sp>
          <p:nvSpPr>
            <p:cNvPr id="113" name="CustomShape 5"/>
            <p:cNvSpPr/>
            <p:nvPr/>
          </p:nvSpPr>
          <p:spPr>
            <a:xfrm>
              <a:off x="752400" y="3129840"/>
              <a:ext cx="1408680" cy="310320"/>
            </a:xfrm>
            <a:prstGeom prst="rect">
              <a:avLst/>
            </a:prstGeom>
            <a:solidFill>
              <a:schemeClr val="bg1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A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14" name="CustomShape 6"/>
            <p:cNvSpPr/>
            <p:nvPr/>
          </p:nvSpPr>
          <p:spPr>
            <a:xfrm>
              <a:off x="2172600" y="2980440"/>
              <a:ext cx="2411280" cy="310320"/>
            </a:xfrm>
            <a:prstGeom prst="rect">
              <a:avLst/>
            </a:prstGeom>
            <a:solidFill>
              <a:schemeClr val="bg1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B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15" name="CustomShape 7"/>
            <p:cNvSpPr/>
            <p:nvPr/>
          </p:nvSpPr>
          <p:spPr>
            <a:xfrm>
              <a:off x="4595400" y="3123720"/>
              <a:ext cx="1110960" cy="310320"/>
            </a:xfrm>
            <a:prstGeom prst="rect">
              <a:avLst/>
            </a:prstGeom>
            <a:solidFill>
              <a:schemeClr val="bg1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C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16" name="CustomShape 8"/>
            <p:cNvSpPr/>
            <p:nvPr/>
          </p:nvSpPr>
          <p:spPr>
            <a:xfrm>
              <a:off x="6004800" y="3123720"/>
              <a:ext cx="1110960" cy="310320"/>
            </a:xfrm>
            <a:prstGeom prst="rect">
              <a:avLst/>
            </a:prstGeom>
            <a:solidFill>
              <a:schemeClr val="bg1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D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17" name="CustomShape 9"/>
            <p:cNvSpPr/>
            <p:nvPr/>
          </p:nvSpPr>
          <p:spPr>
            <a:xfrm>
              <a:off x="5707080" y="3123720"/>
              <a:ext cx="297000" cy="310320"/>
            </a:xfrm>
            <a:prstGeom prst="rect">
              <a:avLst/>
            </a:prstGeom>
            <a:solidFill>
              <a:schemeClr val="bg1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X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18" name="CustomShape 10"/>
            <p:cNvSpPr/>
            <p:nvPr/>
          </p:nvSpPr>
          <p:spPr>
            <a:xfrm>
              <a:off x="2172600" y="3301560"/>
              <a:ext cx="2411280" cy="310320"/>
            </a:xfrm>
            <a:prstGeom prst="rect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B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19" name="CustomShape 11"/>
            <p:cNvSpPr/>
            <p:nvPr/>
          </p:nvSpPr>
          <p:spPr>
            <a:xfrm>
              <a:off x="2172600" y="3301560"/>
              <a:ext cx="2031120" cy="310320"/>
            </a:xfrm>
            <a:prstGeom prst="rect">
              <a:avLst/>
            </a:prstGeom>
            <a:solidFill>
              <a:schemeClr val="bg1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E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20" name="CustomShape 12"/>
            <p:cNvSpPr/>
            <p:nvPr/>
          </p:nvSpPr>
          <p:spPr>
            <a:xfrm>
              <a:off x="4220640" y="3301560"/>
              <a:ext cx="352080" cy="310320"/>
            </a:xfrm>
            <a:prstGeom prst="rect">
              <a:avLst/>
            </a:prstGeom>
            <a:pattFill prst="wdUpDiag">
              <a:fgClr>
                <a:srgbClr val="37669F"/>
              </a:fgClr>
              <a:bgClr>
                <a:srgbClr val="FFFFFF"/>
              </a:bgClr>
            </a:patt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 sz="2177"/>
            </a:p>
          </p:txBody>
        </p:sp>
        <p:sp>
          <p:nvSpPr>
            <p:cNvPr id="121" name="CustomShape 13"/>
            <p:cNvSpPr/>
            <p:nvPr/>
          </p:nvSpPr>
          <p:spPr>
            <a:xfrm>
              <a:off x="7116120" y="3123720"/>
              <a:ext cx="1819800" cy="310320"/>
            </a:xfrm>
            <a:prstGeom prst="rect">
              <a:avLst/>
            </a:prstGeom>
            <a:pattFill prst="wdUpDiag">
              <a:fgClr>
                <a:srgbClr val="37669F"/>
              </a:fgClr>
              <a:bgClr>
                <a:srgbClr val="FFFFFF"/>
              </a:bgClr>
            </a:patt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Unused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22" name="CustomShape 14"/>
            <p:cNvSpPr/>
            <p:nvPr/>
          </p:nvSpPr>
          <p:spPr>
            <a:xfrm>
              <a:off x="762120" y="1593720"/>
              <a:ext cx="1408680" cy="310320"/>
            </a:xfrm>
            <a:prstGeom prst="rect">
              <a:avLst/>
            </a:prstGeom>
            <a:solidFill>
              <a:schemeClr val="bg1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A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23" name="CustomShape 15"/>
            <p:cNvSpPr/>
            <p:nvPr/>
          </p:nvSpPr>
          <p:spPr>
            <a:xfrm>
              <a:off x="4595400" y="1593720"/>
              <a:ext cx="1110960" cy="310320"/>
            </a:xfrm>
            <a:prstGeom prst="rect">
              <a:avLst/>
            </a:prstGeom>
            <a:solidFill>
              <a:schemeClr val="bg1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C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24" name="CustomShape 16"/>
            <p:cNvSpPr/>
            <p:nvPr/>
          </p:nvSpPr>
          <p:spPr>
            <a:xfrm>
              <a:off x="6004800" y="1593720"/>
              <a:ext cx="1110960" cy="310320"/>
            </a:xfrm>
            <a:prstGeom prst="rect">
              <a:avLst/>
            </a:prstGeom>
            <a:solidFill>
              <a:schemeClr val="bg1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D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25" name="CustomShape 17"/>
            <p:cNvSpPr/>
            <p:nvPr/>
          </p:nvSpPr>
          <p:spPr>
            <a:xfrm>
              <a:off x="5707080" y="1593720"/>
              <a:ext cx="297000" cy="310320"/>
            </a:xfrm>
            <a:prstGeom prst="rect">
              <a:avLst/>
            </a:prstGeom>
            <a:solidFill>
              <a:schemeClr val="bg1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X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26" name="CustomShape 18"/>
            <p:cNvSpPr/>
            <p:nvPr/>
          </p:nvSpPr>
          <p:spPr>
            <a:xfrm>
              <a:off x="499680" y="968400"/>
              <a:ext cx="4801680" cy="3639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108847" tIns="54423" rIns="108847" bIns="54423"/>
            <a:lstStyle/>
            <a:p>
              <a:pPr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... the extended message looks like this: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27" name="CustomShape 19"/>
            <p:cNvSpPr/>
            <p:nvPr/>
          </p:nvSpPr>
          <p:spPr>
            <a:xfrm>
              <a:off x="2183040" y="1593720"/>
              <a:ext cx="2411280" cy="310320"/>
            </a:xfrm>
            <a:prstGeom prst="rect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B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28" name="CustomShape 20"/>
            <p:cNvSpPr/>
            <p:nvPr/>
          </p:nvSpPr>
          <p:spPr>
            <a:xfrm>
              <a:off x="2183040" y="1593720"/>
              <a:ext cx="2031120" cy="310320"/>
            </a:xfrm>
            <a:prstGeom prst="rect">
              <a:avLst/>
            </a:prstGeom>
            <a:solidFill>
              <a:schemeClr val="bg1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E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29" name="CustomShape 21"/>
            <p:cNvSpPr/>
            <p:nvPr/>
          </p:nvSpPr>
          <p:spPr>
            <a:xfrm>
              <a:off x="4231080" y="1593720"/>
              <a:ext cx="352080" cy="310320"/>
            </a:xfrm>
            <a:prstGeom prst="rect">
              <a:avLst/>
            </a:prstGeom>
            <a:pattFill prst="wdUpDiag">
              <a:fgClr>
                <a:srgbClr val="37669F"/>
              </a:fgClr>
              <a:bgClr>
                <a:srgbClr val="FFFFFF"/>
              </a:bgClr>
            </a:patt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 sz="2177"/>
            </a:p>
          </p:txBody>
        </p:sp>
        <p:sp>
          <p:nvSpPr>
            <p:cNvPr id="130" name="CustomShape 22"/>
            <p:cNvSpPr/>
            <p:nvPr/>
          </p:nvSpPr>
          <p:spPr>
            <a:xfrm>
              <a:off x="7116120" y="1593720"/>
              <a:ext cx="1819800" cy="310320"/>
            </a:xfrm>
            <a:prstGeom prst="rect">
              <a:avLst/>
            </a:prstGeom>
            <a:pattFill prst="wdUpDiag">
              <a:fgClr>
                <a:srgbClr val="37669F"/>
              </a:fgClr>
              <a:bgClr>
                <a:srgbClr val="FFFFFF"/>
              </a:bgClr>
            </a:patt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 algn="ctr"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Unused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31" name="CustomShape 23"/>
            <p:cNvSpPr/>
            <p:nvPr/>
          </p:nvSpPr>
          <p:spPr>
            <a:xfrm>
              <a:off x="767520" y="3942720"/>
              <a:ext cx="3177000" cy="819720"/>
            </a:xfrm>
            <a:prstGeom prst="wedgeRoundRectCallout">
              <a:avLst>
                <a:gd name="adj1" fmla="val -5779"/>
                <a:gd name="adj2" fmla="val -130194"/>
                <a:gd name="adj3" fmla="val 16667"/>
              </a:avLst>
            </a:prstGeom>
            <a:solidFill>
              <a:schemeClr val="bg1"/>
            </a:solidFill>
            <a:ln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In order to know whether to parse B or E..... 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32" name="CustomShape 24"/>
            <p:cNvSpPr/>
            <p:nvPr/>
          </p:nvSpPr>
          <p:spPr>
            <a:xfrm>
              <a:off x="580320" y="2208600"/>
              <a:ext cx="3373920" cy="3639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108847" tIns="54423" rIns="108847" bIns="54423"/>
            <a:lstStyle/>
            <a:p>
              <a:pPr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So think about the parser....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33" name="CustomShape 25"/>
            <p:cNvSpPr/>
            <p:nvPr/>
          </p:nvSpPr>
          <p:spPr>
            <a:xfrm>
              <a:off x="4971600" y="3887640"/>
              <a:ext cx="3177000" cy="874440"/>
            </a:xfrm>
            <a:prstGeom prst="wedgeRoundRectCallout">
              <a:avLst>
                <a:gd name="adj1" fmla="val -22433"/>
                <a:gd name="adj2" fmla="val -104483"/>
                <a:gd name="adj3" fmla="val 16667"/>
              </a:avLst>
            </a:prstGeom>
            <a:solidFill>
              <a:schemeClr val="bg1"/>
            </a:solidFill>
            <a:ln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08847" tIns="54423" rIns="108847" bIns="54423" anchor="ctr"/>
            <a:lstStyle/>
            <a:p>
              <a:pPr>
                <a:lnSpc>
                  <a:spcPct val="100000"/>
                </a:lnSpc>
              </a:pP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....parser must look </a:t>
              </a:r>
              <a:r>
                <a:rPr lang="en-US" sz="2177" i="1" spc="-1">
                  <a:solidFill>
                    <a:srgbClr val="000000"/>
                  </a:solidFill>
                  <a:latin typeface="Calibri Light"/>
                </a:rPr>
                <a:t>ahead</a:t>
              </a:r>
              <a:r>
                <a:rPr lang="en-US" sz="2177" spc="-1">
                  <a:solidFill>
                    <a:srgbClr val="000000"/>
                  </a:solidFill>
                  <a:latin typeface="Calibri Light"/>
                </a:rPr>
                <a:t> to this flag field.</a:t>
              </a:r>
              <a:endParaRPr lang="en-US" sz="2177" spc="-1">
                <a:latin typeface="Arial"/>
              </a:endParaRPr>
            </a:p>
          </p:txBody>
        </p:sp>
        <p:sp>
          <p:nvSpPr>
            <p:cNvPr id="134" name="CustomShape 26"/>
            <p:cNvSpPr/>
            <p:nvPr/>
          </p:nvSpPr>
          <p:spPr>
            <a:xfrm>
              <a:off x="1764000" y="2513880"/>
              <a:ext cx="831240" cy="38196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B050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 sz="2177"/>
            </a:p>
          </p:txBody>
        </p:sp>
        <p:sp>
          <p:nvSpPr>
            <p:cNvPr id="135" name="CustomShape 27"/>
            <p:cNvSpPr/>
            <p:nvPr/>
          </p:nvSpPr>
          <p:spPr>
            <a:xfrm rot="528600">
              <a:off x="2781720" y="2568960"/>
              <a:ext cx="3192120" cy="363960"/>
            </a:xfrm>
            <a:prstGeom prst="curvedDown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00B050"/>
            </a:solidFill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 sz="2177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wl Tresys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70C0"/>
      </a:folHlink>
    </a:clrScheme>
    <a:fontScheme name="Noto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ffodil-DFDL-Template.pptx" id="{AEAA4738-33A3-4C82-A6B7-BB73C2C23E30}" vid="{79552CB8-BE4D-4D39-BC3E-F4ABDC2286E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43770EEE52CD41AF88844CFD8CFC1F" ma:contentTypeVersion="19" ma:contentTypeDescription="Create a new document." ma:contentTypeScope="" ma:versionID="087aef2dacdf576614e125d015e2f287">
  <xsd:schema xmlns:xsd="http://www.w3.org/2001/XMLSchema" xmlns:xs="http://www.w3.org/2001/XMLSchema" xmlns:p="http://schemas.microsoft.com/office/2006/metadata/properties" xmlns:ns2="213a615a-fc15-48a4-b44f-57f78f25f7bf" xmlns:ns3="7ec4416c-5e17-4e82-a7de-d59c1ce11d89" targetNamespace="http://schemas.microsoft.com/office/2006/metadata/properties" ma:root="true" ma:fieldsID="aeb5c1f92c1e7d75cf293137a4dd3c28" ns2:_="" ns3:_="">
    <xsd:import namespace="213a615a-fc15-48a4-b44f-57f78f25f7bf"/>
    <xsd:import namespace="7ec4416c-5e17-4e82-a7de-d59c1ce11d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3a615a-fc15-48a4-b44f-57f78f25f7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c4416c-5e17-4e82-a7de-d59c1ce11d8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8870CC1-235C-4BD8-A628-EDFC5A270D0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448888-D94F-46D3-B5EF-CF8AC221F7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3a615a-fc15-48a4-b44f-57f78f25f7bf"/>
    <ds:schemaRef ds:uri="7ec4416c-5e17-4e82-a7de-d59c1ce11d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E6E0BF-F4A0-41B6-8685-63FD81E4D1BE}">
  <ds:schemaRefs>
    <ds:schemaRef ds:uri="7ec4416c-5e17-4e82-a7de-d59c1ce11d89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213a615a-fc15-48a4-b44f-57f78f25f7bf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ASF-Daffodil-Powerpoint-Template</Template>
  <TotalTime>2</TotalTime>
  <Words>167</Words>
  <Application>Microsoft Office PowerPoint</Application>
  <PresentationFormat>Widescreen</PresentationFormat>
  <Paragraphs>42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Calibri Light</vt:lpstr>
      <vt:lpstr>Times New Roman</vt:lpstr>
      <vt:lpstr>Noto Sans</vt:lpstr>
      <vt:lpstr>Arial</vt:lpstr>
      <vt:lpstr>Owl Tresys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Beckerle, Mike</dc:creator>
  <cp:lastModifiedBy>Beckerle, Mike</cp:lastModifiedBy>
  <cp:revision>1</cp:revision>
  <dcterms:created xsi:type="dcterms:W3CDTF">2025-11-21T16:22:40Z</dcterms:created>
  <dcterms:modified xsi:type="dcterms:W3CDTF">2025-11-21T16:25:21Z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0x010100AA43770EEE52CD41AF88844CFD8CFC1F</vt:lpwstr>
  </property>
  <property fmtid="{D5CDD505-2E9C-101B-9397-08002B2CF9AE}" pid="3" name="_ColorHex">
    <vt:lpwstr/>
  </property>
  <property fmtid="{D5CDD505-2E9C-101B-9397-08002B2CF9AE}" pid="4" name="_Emoji">
    <vt:lpwstr/>
  </property>
  <property fmtid="{D5CDD505-2E9C-101B-9397-08002B2CF9AE}" pid="5" name="ComplianceAssetId">
    <vt:lpwstr/>
  </property>
  <property fmtid="{D5CDD505-2E9C-101B-9397-08002B2CF9AE}" pid="6" name="_ColorTag">
    <vt:lpwstr/>
  </property>
  <property fmtid="{D5CDD505-2E9C-101B-9397-08002B2CF9AE}" pid="7" name="_activity">
    <vt:lpwstr>{"FileActivityType":"9","FileActivityTimeStamp":"2023-03-15T22:05:42.377Z","FileActivityUsersOnPage":[{"DisplayName":"Beckerle, Mike","Id":"mbeckerle@owlcyberdefense.com"}],"FileActivityNavigationId":null}</vt:lpwstr>
  </property>
  <property fmtid="{D5CDD505-2E9C-101B-9397-08002B2CF9AE}" pid="8" name="xd_Prog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GUID">
    <vt:lpwstr>9168c58c-4a65-49c7-bfad-dc0317203383</vt:lpwstr>
  </property>
  <property fmtid="{D5CDD505-2E9C-101B-9397-08002B2CF9AE}" pid="13" name="xd_Signature">
    <vt:bool>false</vt:bool>
  </property>
</Properties>
</file>
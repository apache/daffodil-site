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4"/>
  </p:sldMasterIdLst>
  <p:notesMasterIdLst>
    <p:notesMasterId r:id="rId7"/>
  </p:notesMasterIdLst>
  <p:handoutMasterIdLst>
    <p:handoutMasterId r:id="rId8"/>
  </p:handoutMasterIdLst>
  <p:sldIdLst>
    <p:sldId id="717" r:id="rId5"/>
    <p:sldId id="836" r:id="rId6"/>
  </p:sldIdLst>
  <p:sldSz cx="12192000" cy="6858000"/>
  <p:notesSz cx="6858000" cy="9144000"/>
  <p:embeddedFontLst>
    <p:embeddedFont>
      <p:font typeface="Noto Sans" panose="020B0502040504020204" pitchFamily="34" charset="0"/>
      <p:regular r:id="rId9"/>
      <p:bold r:id="rId10"/>
      <p:italic r:id="rId11"/>
      <p:boldItalic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B61E61-8FB2-CE41-73A2-D18C7201AEBA}" name="Beckerle, Mike" initials="MB" userId="S::mbeckerle@owlcyberdefense.com::41155a9a-513c-4288-9ceb-5c90f574ab21" providerId="AD"/>
  <p188:author id="{244309C5-15C3-A979-A70C-136C3B0AC25A}" name="Sood, Harinder" initials="SH" userId="S::hsood@owlcyberdefense.com::0ec8c5c7-03d2-48d0-9195-1c9ef9f6dae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8080"/>
    <a:srgbClr val="16315A"/>
    <a:srgbClr val="0D203D"/>
    <a:srgbClr val="E6E7E8"/>
    <a:srgbClr val="0D2035"/>
    <a:srgbClr val="0D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857113-CCE1-4EC8-8DE6-729D4D68471A}" v="1" dt="2025-11-19T14:12:51.00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2597" autoAdjust="0"/>
  </p:normalViewPr>
  <p:slideViewPr>
    <p:cSldViewPr snapToGrid="0" snapToObjects="1">
      <p:cViewPr varScale="1">
        <p:scale>
          <a:sx n="101" d="100"/>
          <a:sy n="101" d="100"/>
        </p:scale>
        <p:origin x="990" y="11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 snapToGrid="0" snapToObjects="1">
      <p:cViewPr varScale="1">
        <p:scale>
          <a:sx n="79" d="100"/>
          <a:sy n="79" d="100"/>
        </p:scale>
        <p:origin x="4020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presProps" Target="pres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4.fntdata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3.fntdata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Master" Target="slideMasters/slideMaster1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F250A63-030B-4438-BE70-50EDBC08667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3974D0-9B26-43B7-8963-F4122ECD150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E6C127-A84A-41C1-BFB1-ED6D88031FE2}" type="datetimeFigureOut">
              <a:rPr lang="en-US" smtClean="0">
                <a:latin typeface="Noto Sans" panose="020B0502040504020204" pitchFamily="34" charset="0"/>
              </a:rPr>
              <a:t>12/22/2025</a:t>
            </a:fld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FAB04E-AA39-4BDF-9C11-00567415CA2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>
              <a:latin typeface="Noto Sans" panose="020B0502040504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B39012-E7C3-4A01-A659-BF6A28F5913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4120852-FEC4-42AD-B3FE-D542A75F8A1A}" type="slidenum">
              <a:rPr lang="en-US" smtClean="0">
                <a:latin typeface="Noto Sans" panose="020B0502040504020204" pitchFamily="34" charset="0"/>
              </a:rPr>
              <a:t>‹#›</a:t>
            </a:fld>
            <a:endParaRPr lang="en-US" dirty="0">
              <a:latin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8077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104331F3-F512-0241-93B1-4EC568B308ED}" type="datetimeFigureOut">
              <a:rPr lang="en-US" smtClean="0"/>
              <a:pPr/>
              <a:t>12/22/2025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" panose="020B0502040504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" panose="020B0502040504020204" pitchFamily="34" charset="0"/>
              </a:defRPr>
            </a:lvl1pPr>
          </a:lstStyle>
          <a:p>
            <a:fld id="{CF152513-84CE-DE4C-84E6-0C1BDA4E2D2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3457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" panose="020B0502040504020204" pitchFamily="34" charset="0"/>
        <a:ea typeface="+mn-ea"/>
        <a:cs typeface="+mn-cs"/>
      </a:defRPr>
    </a:lvl1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25484" y="125004"/>
            <a:ext cx="9654540" cy="680539"/>
          </a:xfrm>
          <a:prstGeom prst="rect">
            <a:avLst/>
          </a:prstGeo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5482" y="1007950"/>
            <a:ext cx="11465923" cy="5135834"/>
          </a:xfrm>
        </p:spPr>
        <p:txBody>
          <a:bodyPr/>
          <a:lstStyle>
            <a:lvl1pPr marL="457189" indent="-457189">
              <a:lnSpc>
                <a:spcPct val="100000"/>
              </a:lnSpc>
              <a:buFont typeface="Wingdings" panose="05000000000000000000" pitchFamily="2" charset="2"/>
              <a:buChar char="§"/>
              <a:defRPr sz="3200">
                <a:solidFill>
                  <a:schemeClr val="tx2"/>
                </a:solidFill>
                <a:latin typeface="+mn-lt"/>
              </a:defRPr>
            </a:lvl1pPr>
            <a:lvl2pPr marL="990575" indent="-380990">
              <a:lnSpc>
                <a:spcPct val="100000"/>
              </a:lnSpc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+mn-lt"/>
              </a:defRPr>
            </a:lvl2pPr>
            <a:lvl3pPr marL="1523962" indent="-304792">
              <a:lnSpc>
                <a:spcPct val="100000"/>
              </a:lnSpc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+mn-lt"/>
              </a:defRPr>
            </a:lvl3pPr>
            <a:lvl4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4pPr>
            <a:lvl5pPr>
              <a:lnSpc>
                <a:spcPct val="100000"/>
              </a:lnSpc>
              <a:defRPr sz="1800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219032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4725" y="124414"/>
            <a:ext cx="9516291" cy="720317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effectLst/>
              </a:defRPr>
            </a:lvl1pPr>
          </a:lstStyle>
          <a:p>
            <a:fld id="{E87A9C04-9BE2-4A9F-A3FE-72B96988022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236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apache.org/licenses/LICENSE-2.0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09BB2-F79A-234D-8E9E-E1D2049678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560" y="140254"/>
            <a:ext cx="9772131" cy="7338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AD83F1-A007-0E40-9860-7C73664E53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77560" y="1404303"/>
            <a:ext cx="11365800" cy="46394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5A2C13-ADE4-454D-A0F2-F3883FD2D7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72206" y="6376580"/>
            <a:ext cx="781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Noto Sans" panose="020B0502040504020204" pitchFamily="34" charset="0"/>
              </a:defRPr>
            </a:lvl1pPr>
          </a:lstStyle>
          <a:p>
            <a:fld id="{E86E9A59-3F40-F444-BD0F-26E6D063A5F0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0" name="Picture 9" descr="Logo&#10;&#10;AI-generated content may be incorrect.">
            <a:extLst>
              <a:ext uri="{FF2B5EF4-FFF2-40B4-BE49-F238E27FC236}">
                <a16:creationId xmlns:a16="http://schemas.microsoft.com/office/drawing/2014/main" id="{D476FC69-7F9A-14CE-4937-48E3A8F81D3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183925" y="6290557"/>
            <a:ext cx="930276" cy="48839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4002571-4629-40DC-3401-F80007F4B325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10134600" y="140254"/>
            <a:ext cx="1868263" cy="3518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225BEF2-EF2E-E5C3-C2A5-00069AB7BBB3}"/>
              </a:ext>
            </a:extLst>
          </p:cNvPr>
          <p:cNvSpPr txBox="1"/>
          <p:nvPr userDrawn="1"/>
        </p:nvSpPr>
        <p:spPr>
          <a:xfrm>
            <a:off x="1175161" y="6382408"/>
            <a:ext cx="2704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Copyright © 2025 The Apache Software Foundation, </a:t>
            </a:r>
          </a:p>
          <a:p>
            <a:r>
              <a:rPr lang="en-US" sz="800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</a:rPr>
              <a:t>Licensed under the </a:t>
            </a:r>
            <a:r>
              <a:rPr lang="en-US" sz="800" u="sng" dirty="0">
                <a:latin typeface="Noto Sans" panose="020B0502040504020204" pitchFamily="34" charset="0"/>
                <a:ea typeface="Noto Sans" panose="020B0502040504020204" pitchFamily="34" charset="0"/>
                <a:cs typeface="Noto Sans" panose="020B0502040504020204" pitchFamily="34" charset="0"/>
                <a:hlinkClick r:id="rId6"/>
              </a:rPr>
              <a:t>Apache License, Version 2.0</a:t>
            </a:r>
            <a:endParaRPr lang="en-US" sz="800" dirty="0">
              <a:latin typeface="Noto Sans" panose="020B0502040504020204" pitchFamily="34" charset="0"/>
              <a:ea typeface="Noto Sans" panose="020B0502040504020204" pitchFamily="34" charset="0"/>
              <a:cs typeface="Noto Sans" panose="020B050204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8559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Noto Sans" panose="020B05020405040202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Noto Sans" panose="020B05020405040202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AA25C4-BC43-4760-9318-246573B64A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DFDL Terminology: </a:t>
            </a:r>
          </a:p>
          <a:p>
            <a:pPr lvl="1"/>
            <a:r>
              <a:rPr lang="en-US" dirty="0"/>
              <a:t>"</a:t>
            </a:r>
            <a:r>
              <a:rPr lang="en-US" i="1" dirty="0"/>
              <a:t>Padding</a:t>
            </a:r>
            <a:r>
              <a:rPr lang="en-US" dirty="0"/>
              <a:t>" and "</a:t>
            </a:r>
            <a:r>
              <a:rPr lang="en-US" i="1" dirty="0"/>
              <a:t>Trimming</a:t>
            </a:r>
            <a:r>
              <a:rPr lang="en-US" dirty="0"/>
              <a:t>" are about text </a:t>
            </a:r>
            <a:r>
              <a:rPr lang="en-US" i="1" dirty="0"/>
              <a:t>characters</a:t>
            </a:r>
          </a:p>
          <a:p>
            <a:pPr lvl="2"/>
            <a:r>
              <a:rPr lang="en-US" dirty="0"/>
              <a:t>e.g., spaces at end of a string, leading zeros on a number. </a:t>
            </a:r>
          </a:p>
          <a:p>
            <a:pPr lvl="1"/>
            <a:r>
              <a:rPr lang="en-US" dirty="0"/>
              <a:t>"</a:t>
            </a:r>
            <a:r>
              <a:rPr lang="en-US" i="1" dirty="0"/>
              <a:t>Fill</a:t>
            </a:r>
            <a:r>
              <a:rPr lang="en-US" dirty="0"/>
              <a:t>" is about binary </a:t>
            </a:r>
            <a:r>
              <a:rPr lang="en-US" i="1" dirty="0"/>
              <a:t>bytes</a:t>
            </a:r>
            <a:r>
              <a:rPr lang="en-US" dirty="0"/>
              <a:t> being initialized or added</a:t>
            </a:r>
          </a:p>
          <a:p>
            <a:r>
              <a:rPr lang="en-US" dirty="0"/>
              <a:t>Lots of data formats use these terms in their own way however.</a:t>
            </a:r>
          </a:p>
          <a:p>
            <a:pPr lvl="1"/>
            <a:r>
              <a:rPr lang="en-US" dirty="0"/>
              <a:t>Some will say "pad bytes" at the end of binary data records</a:t>
            </a:r>
          </a:p>
          <a:p>
            <a:pPr lvl="2"/>
            <a:r>
              <a:rPr lang="en-US" dirty="0"/>
              <a:t>DFDL calls this unused data </a:t>
            </a:r>
            <a:r>
              <a:rPr lang="en-US" i="1" dirty="0"/>
              <a:t>fill</a:t>
            </a:r>
            <a:r>
              <a:rPr lang="en-US" dirty="0"/>
              <a:t>. </a:t>
            </a:r>
          </a:p>
          <a:p>
            <a:pPr lvl="1"/>
            <a:r>
              <a:rPr lang="en-US" dirty="0"/>
              <a:t>Some will say "pad bytes" to align to a word boundary </a:t>
            </a:r>
          </a:p>
          <a:p>
            <a:pPr lvl="2"/>
            <a:r>
              <a:rPr lang="en-US" dirty="0"/>
              <a:t>DFDL calls this </a:t>
            </a:r>
            <a:r>
              <a:rPr lang="en-US" i="1" dirty="0"/>
              <a:t>alignment fill</a:t>
            </a:r>
            <a:r>
              <a:rPr lang="en-US" dirty="0"/>
              <a:t>. </a:t>
            </a:r>
          </a:p>
          <a:p>
            <a:pPr marL="1219170" lvl="2" indent="0">
              <a:buNone/>
            </a:pP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A0623E-B09A-4180-9DA3-C6125A6EF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vs Padding/Trimming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AC6AC7-FE2B-2B8B-10CD-2A0E3DD90D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A9C04-9BE2-4A9F-A3FE-72B96988022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AAE2CA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AAE2CA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2674069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70BFEA-2DA4-C857-9E20-02EAEF3FAC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984A935-673A-93A7-3755-F936D406AD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dfdl:fillByte</a:t>
            </a:r>
            <a:endParaRPr lang="en-US" dirty="0"/>
          </a:p>
          <a:p>
            <a:pPr lvl="1"/>
            <a:r>
              <a:rPr lang="en-US" dirty="0"/>
              <a:t>Used to fill in unused space when unparsing</a:t>
            </a:r>
          </a:p>
          <a:p>
            <a:pPr lvl="1"/>
            <a:r>
              <a:rPr lang="en-US" dirty="0"/>
              <a:t>Not used when parsing</a:t>
            </a:r>
          </a:p>
          <a:p>
            <a:pPr lvl="1"/>
            <a:r>
              <a:rPr lang="en-US" dirty="0"/>
              <a:t>Commonly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dfdl:fillByte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="%#r00;" </a:t>
            </a:r>
            <a:r>
              <a:rPr lang="en-US" dirty="0"/>
              <a:t>(zero byte)</a:t>
            </a:r>
          </a:p>
          <a:p>
            <a:pPr lvl="2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%#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rHH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  <a:r>
              <a:rPr lang="en-US" dirty="0"/>
              <a:t>notation is a </a:t>
            </a:r>
            <a:r>
              <a:rPr lang="en-US" i="1" dirty="0"/>
              <a:t>DFDL Byte Entity (</a:t>
            </a:r>
            <a:r>
              <a:rPr lang="en-US" dirty="0"/>
              <a:t>aka a </a:t>
            </a:r>
            <a:r>
              <a:rPr lang="en-US" i="1" dirty="0"/>
              <a:t>raw byte).</a:t>
            </a:r>
            <a:endParaRPr lang="en-US" dirty="0"/>
          </a:p>
          <a:p>
            <a:pPr lvl="1"/>
            <a:r>
              <a:rPr lang="en-US" dirty="0"/>
              <a:t>Useful for debugging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dfdl:fillByte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="%#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rFF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;"</a:t>
            </a:r>
            <a:r>
              <a:rPr lang="en-US" dirty="0"/>
              <a:t>(all 1's)</a:t>
            </a:r>
          </a:p>
          <a:p>
            <a:pPr lvl="2"/>
            <a:r>
              <a:rPr lang="en-US" dirty="0"/>
              <a:t>Filled data will show up in data more visibly in hex dumps</a:t>
            </a:r>
          </a:p>
          <a:p>
            <a:pPr lvl="2"/>
            <a:r>
              <a:rPr lang="en-US" dirty="0"/>
              <a:t>Another suggestion: using fill byte of 'X' character 0x53. </a:t>
            </a:r>
          </a:p>
          <a:p>
            <a:pPr lvl="3"/>
            <a:r>
              <a:rPr lang="en-US" dirty="0"/>
              <a:t>Will show as 'XXXXXX...' in text dumps</a:t>
            </a:r>
          </a:p>
          <a:p>
            <a:pPr lvl="2"/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9FBEF9-6092-D5E6-4007-9BC61DEFB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Filling vs Padding/Trimming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F6D9ED-9222-EED9-7A69-120B8F571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87A9C04-9BE2-4A9F-A3FE-72B96988022F}" type="slidenum">
              <a:rPr kumimoji="0" lang="en-US" sz="1200" b="1" i="0" u="none" strike="noStrike" kern="1200" cap="none" spc="0" normalizeH="0" baseline="0" noProof="0" smtClean="0">
                <a:ln>
                  <a:noFill/>
                </a:ln>
                <a:solidFill>
                  <a:srgbClr val="AAE2CA">
                    <a:lumMod val="50000"/>
                  </a:srgbClr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rgbClr val="AAE2CA">
                  <a:lumMod val="50000"/>
                </a:srgbClr>
              </a:solidFill>
              <a:effectLst/>
              <a:uLnTx/>
              <a:uFillTx/>
              <a:latin typeface="Calibri" panose="020F0502020204030204" pitchFamily="34" charset="0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068598628"/>
      </p:ext>
    </p:extLst>
  </p:cSld>
  <p:clrMapOvr>
    <a:masterClrMapping/>
  </p:clrMapOvr>
</p:sld>
</file>

<file path=ppt/theme/theme1.xml><?xml version="1.0" encoding="utf-8"?>
<a:theme xmlns:a="http://schemas.openxmlformats.org/drawingml/2006/main" name="Owl Tresys">
  <a:themeElements>
    <a:clrScheme name="Custom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000000"/>
      </a:hlink>
      <a:folHlink>
        <a:srgbClr val="0070C0"/>
      </a:folHlink>
    </a:clrScheme>
    <a:fontScheme name="Noto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SF-Daffodil-Powerpoint-Template.potx" id="{1B7B6B17-DD1C-4004-B1C8-A6B0E304C607}" vid="{E90DA38C-6206-4BBE-99F8-A6461D89AEB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43770EEE52CD41AF88844CFD8CFC1F" ma:contentTypeVersion="19" ma:contentTypeDescription="Create a new document." ma:contentTypeScope="" ma:versionID="087aef2dacdf576614e125d015e2f287">
  <xsd:schema xmlns:xsd="http://www.w3.org/2001/XMLSchema" xmlns:xs="http://www.w3.org/2001/XMLSchema" xmlns:p="http://schemas.microsoft.com/office/2006/metadata/properties" xmlns:ns2="213a615a-fc15-48a4-b44f-57f78f25f7bf" xmlns:ns3="7ec4416c-5e17-4e82-a7de-d59c1ce11d89" targetNamespace="http://schemas.microsoft.com/office/2006/metadata/properties" ma:root="true" ma:fieldsID="aeb5c1f92c1e7d75cf293137a4dd3c28" ns2:_="" ns3:_="">
    <xsd:import namespace="213a615a-fc15-48a4-b44f-57f78f25f7bf"/>
    <xsd:import namespace="7ec4416c-5e17-4e82-a7de-d59c1ce11d8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13a615a-fc15-48a4-b44f-57f78f25f7b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c4416c-5e17-4e82-a7de-d59c1ce11d89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448888-D94F-46D3-B5EF-CF8AC221F7D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13a615a-fc15-48a4-b44f-57f78f25f7bf"/>
    <ds:schemaRef ds:uri="7ec4416c-5e17-4e82-a7de-d59c1ce11d8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8870CC1-235C-4BD8-A628-EDFC5A270D05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8E6E0BF-F4A0-41B6-8685-63FD81E4D1BE}">
  <ds:schemaRefs>
    <ds:schemaRef ds:uri="7ec4416c-5e17-4e82-a7de-d59c1ce11d89"/>
    <ds:schemaRef ds:uri="http://purl.org/dc/dcmitype/"/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213a615a-fc15-48a4-b44f-57f78f25f7bf"/>
    <ds:schemaRef ds:uri="http://purl.org/dc/terms/"/>
    <ds:schemaRef ds:uri="http://www.w3.org/XML/1998/namespace"/>
    <ds:schemaRef ds:uri="http://schemas.openxmlformats.org/package/2006/metadata/core-properties"/>
    <ds:schemaRef ds:uri="http://schemas.microsoft.com/office/2006/metadata/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ASF-Daffodil-Powerpoint-Template</Template>
  <TotalTime>8</TotalTime>
  <Words>192</Words>
  <Application>Microsoft Office PowerPoint</Application>
  <PresentationFormat>Widescreen</PresentationFormat>
  <Paragraphs>22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Courier New</vt:lpstr>
      <vt:lpstr>Calibri</vt:lpstr>
      <vt:lpstr>Arial</vt:lpstr>
      <vt:lpstr>Wingdings</vt:lpstr>
      <vt:lpstr>Noto Sans</vt:lpstr>
      <vt:lpstr>Owl Tresys</vt:lpstr>
      <vt:lpstr>Filling vs Padding/Trimming</vt:lpstr>
      <vt:lpstr>Filling vs Padding/Trimming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Beckerle, Mike</dc:creator>
  <cp:lastModifiedBy>Beckerle, Mike</cp:lastModifiedBy>
  <cp:revision>1</cp:revision>
  <dcterms:created xsi:type="dcterms:W3CDTF">2025-12-22T19:57:47Z</dcterms:created>
  <dcterms:modified xsi:type="dcterms:W3CDTF">2025-12-22T20:06:04Z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0x010100AA43770EEE52CD41AF88844CFD8CFC1F</vt:lpwstr>
  </property>
  <property fmtid="{D5CDD505-2E9C-101B-9397-08002B2CF9AE}" pid="3" name="_ColorHex">
    <vt:lpwstr/>
  </property>
  <property fmtid="{D5CDD505-2E9C-101B-9397-08002B2CF9AE}" pid="4" name="_Emoji">
    <vt:lpwstr/>
  </property>
  <property fmtid="{D5CDD505-2E9C-101B-9397-08002B2CF9AE}" pid="5" name="ComplianceAssetId">
    <vt:lpwstr/>
  </property>
  <property fmtid="{D5CDD505-2E9C-101B-9397-08002B2CF9AE}" pid="6" name="_ColorTag">
    <vt:lpwstr/>
  </property>
  <property fmtid="{D5CDD505-2E9C-101B-9397-08002B2CF9AE}" pid="7" name="_activity">
    <vt:lpwstr>{"FileActivityType":"9","FileActivityTimeStamp":"2023-03-15T22:05:42.377Z","FileActivityUsersOnPage":[{"DisplayName":"Beckerle, Mike","Id":"mbeckerle@owlcyberdefense.com"}],"FileActivityNavigationId":null}</vt:lpwstr>
  </property>
  <property fmtid="{D5CDD505-2E9C-101B-9397-08002B2CF9AE}" pid="8" name="xd_ProgID">
    <vt:lpwstr/>
  </property>
  <property fmtid="{D5CDD505-2E9C-101B-9397-08002B2CF9AE}" pid="9" name="TemplateUrl">
    <vt:lpwstr/>
  </property>
  <property fmtid="{D5CDD505-2E9C-101B-9397-08002B2CF9AE}" pid="10" name="_ExtendedDescription">
    <vt:lpwstr/>
  </property>
  <property fmtid="{D5CDD505-2E9C-101B-9397-08002B2CF9AE}" pid="11" name="TriggerFlowInfo">
    <vt:lpwstr/>
  </property>
  <property fmtid="{D5CDD505-2E9C-101B-9397-08002B2CF9AE}" pid="12" name="GUID">
    <vt:lpwstr>9168c58c-4a65-49c7-bfad-dc0317203383</vt:lpwstr>
  </property>
  <property fmtid="{D5CDD505-2E9C-101B-9397-08002B2CF9AE}" pid="13" name="xd_Signature">
    <vt:bool>false</vt:bool>
  </property>
</Properties>
</file>